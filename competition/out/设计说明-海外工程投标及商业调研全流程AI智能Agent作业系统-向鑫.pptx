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jpg"/><Relationship Id="rId5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low-banner-light-v2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compan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502920"/>
            <a:ext cx="3769743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201168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1B6FC4"/>
                </a:solidFill>
                <a:latin typeface="Microsoft YaHei"/>
              </a:rPr>
              <a:t>中建二局“建证·超越”青年设计师创新大赛 · 决赛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14600"/>
            <a:ext cx="108813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400" b="1">
                <a:solidFill>
                  <a:srgbClr val="0D1830"/>
                </a:solidFill>
                <a:latin typeface="Microsoft YaHei"/>
              </a:rPr>
              <a:t>海外工程投标及商业调研</a:t>
            </a:r>
          </a:p>
          <a:p>
            <a:pPr algn="l">
              <a:lnSpc>
                <a:spcPct val="125000"/>
              </a:lnSpc>
            </a:pPr>
            <a:r>
              <a:rPr sz="4400" b="1">
                <a:solidFill>
                  <a:srgbClr val="1B6FC4"/>
                </a:solidFill>
                <a:latin typeface="Microsoft YaHei"/>
              </a:rPr>
              <a:t>全流程 AI 智能 Agent 作业系统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091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5567A"/>
                </a:solidFill>
                <a:latin typeface="Microsoft YaHei"/>
              </a:rPr>
              <a:t>把海外投标这盘硬活，一次长程任务从头到尾跑完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532120"/>
            <a:ext cx="10881360" cy="2032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7607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45567A"/>
                </a:solidFill>
                <a:latin typeface="Microsoft YaHei"/>
              </a:rPr>
              <a:t>申报类型：海外业务赛道　｜　参赛人员：向鑫　｜　申报单位：博茨公司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9184"/>
            <a:ext cx="82296" cy="310896"/>
          </a:xfrm>
          <a:prstGeom prst="rect">
            <a:avLst/>
          </a:prstGeom>
          <a:solidFill>
            <a:srgbClr val="2F6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64592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1B6FC4"/>
                </a:solidFill>
                <a:latin typeface="Microsoft YaHei"/>
              </a:rPr>
              <a:t>DESIGN STATEMENT · 1000 字以内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402336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>
                <a:solidFill>
                  <a:srgbClr val="0D1830"/>
                </a:solidFill>
                <a:latin typeface="Microsoft YaHei"/>
              </a:rPr>
              <a:t>设计总说明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274320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0">
                <a:solidFill>
                  <a:srgbClr val="8593AB"/>
                </a:solidFill>
                <a:latin typeface="Microsoft YaHei"/>
              </a:rPr>
              <a:t>海外业务赛道 · 向鑫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32688"/>
            <a:ext cx="12191695" cy="25400"/>
          </a:xfrm>
          <a:prstGeom prst="rect">
            <a:avLst/>
          </a:prstGeom>
          <a:solidFill>
            <a:srgbClr val="E2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234440"/>
            <a:ext cx="10789920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50" b="0">
                <a:solidFill>
                  <a:srgbClr val="0D1830"/>
                </a:solidFill>
                <a:latin typeface="Microsoft YaHei"/>
              </a:rPr>
              <a:t>「海外工程投标及商业调研全流程 AI 智能 Agent 作业系统」（Agent Pi DSH）是面向工程企业的垂直智能体作业系统。本人在作品中担负系统架构设计、核心流程与提示工程、投标领域技能与知识库体系搭建、以及真实项目验证的全部工作。</a:t>
            </a:r>
          </a:p>
          <a:p>
            <a:pPr algn="l">
              <a:lnSpc>
                <a:spcPct val="150000"/>
              </a:lnSpc>
            </a:pPr>
            <a:r>
              <a:rPr sz="1550" b="0">
                <a:solidFill>
                  <a:srgbClr val="45567A"/>
                </a:solidFill>
                <a:latin typeface="Microsoft YaHei"/>
              </a:rPr>
              <a:t>海外标段投标长期面临三大痛点：标书文件浩瀚、人工通读易遗漏；数千条 BOQ 组价依赖个人经验、不可校验不可复用；通用 AI 助手幻觉频发、长任务断片跑题，无法交付高证据化的正式成果。创意构思围绕一个问题展开：普通工程企业的普通电脑，能否把最难的投标任务跑到底。方案做三个反向取舍：其一，知识库不采用市场流行的 RAG 向量检索——其对普通用户硬件要求过高，且“相似度猜测”不满足证据化场景，改为按文档自身章节切条 + BM25 检索，零重型依赖、命中即定位条款；其二，依托 DeepSeek V4 百万 tokens 上下文，整套标书、规范、BOQ 与中间稿全程驻留，任务不失忆、目标不偏离；其三，发动机从 Claude Agent SDK + Pi 双架构果断切换到 DeepSeek Harness 架构，实测最难的 BOQ 逐条分析效果显著更优。</a:t>
            </a:r>
          </a:p>
          <a:p>
            <a:pPr algn="l">
              <a:lnSpc>
                <a:spcPct val="150000"/>
              </a:lnSpc>
            </a:pPr>
            <a:r>
              <a:rPr sz="1550" b="0">
                <a:solidFill>
                  <a:srgbClr val="45567A"/>
                </a:solidFill>
                <a:latin typeface="Microsoft YaHei"/>
              </a:rPr>
              <a:t>系统以一次长程任务跑完投标全流程：标书全量解析并入库 → 数千条 BOQ 逐项引用规范界定工作范围 → 结合企业数据与网络验证的工法、工效、资源实地价格五步推导 → 资源汇总与成本推定 → 按项目特征施工推演形成策划稿 → 照企业模板编制正式投标文档。证据门禁杜绝幻觉，出处芯片逐条回指源文件条款，正式成果落盘可审计；中标后全部基础资料直接服务实施阶段成本策划。</a:t>
            </a:r>
          </a:p>
          <a:p>
            <a:pPr algn="l">
              <a:lnSpc>
                <a:spcPct val="150000"/>
              </a:lnSpc>
            </a:pPr>
            <a:r>
              <a:rPr sz="1550" b="0">
                <a:solidFill>
                  <a:srgbClr val="45567A"/>
                </a:solidFill>
                <a:latin typeface="Microsoft YaHei"/>
              </a:rPr>
              <a:t>系统已在真实海外项目作业中验证：一次任务生成 EB Cloete 立交 110m 钢拱吊装可交互三维仿真（含 FEM 校验的受力可视化与计算书）、咨询级版式的投资尽调报告与矿区交通走廊地图。商业化落地按“最小投资私有化”设计：约 3 万元一台工作站即可起步，软件全部开源零许可费，数据不出企业内网；规划接入微信 / 飞书 / 钉钉的常驻业务中枢，实现企业信息化向 AI 智能化的跃迁。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9184"/>
            <a:ext cx="82296" cy="310896"/>
          </a:xfrm>
          <a:prstGeom prst="rect">
            <a:avLst/>
          </a:prstGeom>
          <a:solidFill>
            <a:srgbClr val="2F6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64592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1B6FC4"/>
                </a:solidFill>
                <a:latin typeface="Microsoft YaHei"/>
              </a:rP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402336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>
                <a:solidFill>
                  <a:srgbClr val="0D1830"/>
                </a:solidFill>
                <a:latin typeface="Microsoft YaHei"/>
              </a:rPr>
              <a:t>问题提出：海外投标的三大痛点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274320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0">
                <a:solidFill>
                  <a:srgbClr val="8593AB"/>
                </a:solidFill>
                <a:latin typeface="Microsoft YaHei"/>
              </a:rPr>
              <a:t>海外业务赛道 · 向鑫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32688"/>
            <a:ext cx="12191695" cy="25400"/>
          </a:xfrm>
          <a:prstGeom prst="rect">
            <a:avLst/>
          </a:prstGeom>
          <a:solidFill>
            <a:srgbClr val="E2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1600"/>
              </a:spcAft>
            </a:pPr>
            <a:r>
              <a:rPr sz="1800" b="1">
                <a:solidFill>
                  <a:srgbClr val="1B6FC4"/>
                </a:solidFill>
                <a:latin typeface="Microsoft YaHei"/>
              </a:rPr>
              <a:t>▎标书浩瀚，人工读不完</a:t>
            </a:r>
          </a:p>
          <a:p>
            <a:pPr>
              <a:lnSpc>
                <a:spcPct val="135000"/>
              </a:lnSpc>
              <a:spcAft>
                <a:spcPts val="1600"/>
              </a:spcAft>
            </a:pPr>
            <a:r>
              <a:rPr sz="1600">
                <a:solidFill>
                  <a:srgbClr val="45567A"/>
                </a:solidFill>
                <a:latin typeface="Microsoft YaHei"/>
              </a:rPr>
              <a:t>海外标段招标文件动辄数十份、上千页，规范、FIDIC 条款与特别条款修订相互交织。人工通读周期长、遗漏多，关键条款理解偏差直接导致废标风险。</a:t>
            </a:r>
          </a:p>
          <a:p>
            <a:pPr>
              <a:lnSpc>
                <a:spcPct val="135000"/>
              </a:lnSpc>
              <a:spcAft>
                <a:spcPts val="1600"/>
              </a:spcAft>
            </a:pPr>
            <a:r>
              <a:rPr sz="1800" b="1">
                <a:solidFill>
                  <a:srgbClr val="1B6FC4"/>
                </a:solidFill>
                <a:latin typeface="Microsoft YaHei"/>
              </a:rPr>
              <a:t>▎BOQ 组价靠经验拍脑袋</a:t>
            </a:r>
          </a:p>
          <a:p>
            <a:pPr>
              <a:lnSpc>
                <a:spcPct val="135000"/>
              </a:lnSpc>
              <a:spcAft>
                <a:spcPts val="1600"/>
              </a:spcAft>
            </a:pPr>
            <a:r>
              <a:rPr sz="1600">
                <a:solidFill>
                  <a:srgbClr val="45567A"/>
                </a:solidFill>
                <a:latin typeface="Microsoft YaHei"/>
              </a:rPr>
              <a:t>数千条清单逐条组价：工作范围界定、工法工效选择、资源实地价格取定，长期依赖少数骨干个人经验，不可校验、不可复用，人走经验走。</a:t>
            </a:r>
          </a:p>
          <a:p>
            <a:pPr>
              <a:lnSpc>
                <a:spcPct val="135000"/>
              </a:lnSpc>
              <a:spcAft>
                <a:spcPts val="1600"/>
              </a:spcAft>
            </a:pPr>
            <a:r>
              <a:rPr sz="1800" b="1">
                <a:solidFill>
                  <a:srgbClr val="1B6FC4"/>
                </a:solidFill>
                <a:latin typeface="Microsoft YaHei"/>
              </a:rPr>
              <a:t>▎通用 AI 助手不堪大用</a:t>
            </a:r>
          </a:p>
          <a:p>
            <a:pPr>
              <a:lnSpc>
                <a:spcPct val="135000"/>
              </a:lnSpc>
              <a:spcAft>
                <a:spcPts val="1600"/>
              </a:spcAft>
            </a:pPr>
            <a:r>
              <a:rPr sz="1600">
                <a:solidFill>
                  <a:srgbClr val="45567A"/>
                </a:solidFill>
                <a:latin typeface="Microsoft YaHei"/>
              </a:rPr>
              <a:t>通用办公助手几十轮对话就断片跑题、凭模型记忆编造事实（幻觉）、长文档读不动、成果只是聊天记录——在高证据化的投标场景里无法交付正式成果。</a:t>
            </a:r>
          </a:p>
          <a:p>
            <a:pPr>
              <a:lnSpc>
                <a:spcPct val="135000"/>
              </a:lnSpc>
              <a:spcAft>
                <a:spcPts val="1600"/>
              </a:spcAft>
            </a:pPr>
            <a:r>
              <a:rPr sz="1800" b="1">
                <a:solidFill>
                  <a:srgbClr val="1B6FC4"/>
                </a:solidFill>
                <a:latin typeface="Microsoft YaHei"/>
              </a:rPr>
              <a:t>▎破题思路</a:t>
            </a:r>
          </a:p>
          <a:p>
            <a:pPr>
              <a:lnSpc>
                <a:spcPct val="135000"/>
              </a:lnSpc>
              <a:spcAft>
                <a:spcPts val="1600"/>
              </a:spcAft>
            </a:pPr>
            <a:r>
              <a:rPr sz="1600">
                <a:solidFill>
                  <a:srgbClr val="45567A"/>
                </a:solidFill>
                <a:latin typeface="Microsoft YaHei"/>
              </a:rPr>
              <a:t>把智能体放进真实项目作业：打开工作区直接下任务；复杂活由内核原生拆给并行工人，证据门禁杜绝幻觉，正式成果带出处芯片落盘，中标后全部基础资料直接服务实施阶段。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9184"/>
            <a:ext cx="82296" cy="310896"/>
          </a:xfrm>
          <a:prstGeom prst="rect">
            <a:avLst/>
          </a:prstGeom>
          <a:solidFill>
            <a:srgbClr val="2F6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64592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1B6FC4"/>
                </a:solidFill>
                <a:latin typeface="Microsoft YaHei"/>
              </a:rPr>
              <a:t>SYSTEM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402336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>
                <a:solidFill>
                  <a:srgbClr val="0D1830"/>
                </a:solidFill>
                <a:latin typeface="Microsoft YaHei"/>
              </a:rPr>
              <a:t>总体方案：发动机是 DeepSeek Harness，工作台是 Agent 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274320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0">
                <a:solidFill>
                  <a:srgbClr val="8593AB"/>
                </a:solidFill>
                <a:latin typeface="Microsoft YaHei"/>
              </a:rPr>
              <a:t>海外业务赛道 · 向鑫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32688"/>
            <a:ext cx="12191695" cy="25400"/>
          </a:xfrm>
          <a:prstGeom prst="rect">
            <a:avLst/>
          </a:prstGeom>
          <a:solidFill>
            <a:srgbClr val="E2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54480"/>
            <a:ext cx="2121408" cy="105156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64208"/>
            <a:ext cx="212140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350" b="1">
                <a:solidFill>
                  <a:srgbClr val="0D1830"/>
                </a:solidFill>
                <a:latin typeface="Microsoft YaHei"/>
              </a:rPr>
              <a:t>打开项目下任务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24328" y="1783080"/>
            <a:ext cx="14630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1B6FC4"/>
                </a:solidFill>
                <a:latin typeface="Microsoft YaHe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70632" y="1554480"/>
            <a:ext cx="2121408" cy="105156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70632" y="1664208"/>
            <a:ext cx="212140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350" b="1">
                <a:solidFill>
                  <a:srgbClr val="0D1830"/>
                </a:solidFill>
                <a:latin typeface="Microsoft YaHei"/>
              </a:rPr>
              <a:t>工作台
投标/实施/投资·知识库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1783080"/>
            <a:ext cx="14630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1B6FC4"/>
                </a:solidFill>
                <a:latin typeface="Microsoft YaHe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38344" y="1554480"/>
            <a:ext cx="2121408" cy="1051560"/>
          </a:xfrm>
          <a:prstGeom prst="rect">
            <a:avLst/>
          </a:prstGeom>
          <a:solidFill>
            <a:srgbClr val="2F6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38344" y="1664208"/>
            <a:ext cx="212140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DeepSeek Harness
内核·工具/会话/权限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9752" y="1783080"/>
            <a:ext cx="14630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1B6FC4"/>
                </a:solidFill>
                <a:latin typeface="Microsoft YaHe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06056" y="1554480"/>
            <a:ext cx="2121408" cy="105156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06056" y="1664208"/>
            <a:ext cx="212140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350" b="1">
                <a:solidFill>
                  <a:srgbClr val="0D1830"/>
                </a:solidFill>
                <a:latin typeface="Microsoft YaHei"/>
              </a:rPr>
              <a:t>并行工人
subagent / workflow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27464" y="1783080"/>
            <a:ext cx="14630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1B6FC4"/>
                </a:solidFill>
                <a:latin typeface="Microsoft YaHe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73768" y="1554480"/>
            <a:ext cx="2121408" cy="105156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73768" y="1664208"/>
            <a:ext cx="212140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350" b="1">
                <a:solidFill>
                  <a:srgbClr val="0D1830"/>
                </a:solidFill>
                <a:latin typeface="Microsoft YaHei"/>
              </a:rPr>
              <a:t>Official Outputs
统一成果树·总报告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3017520"/>
            <a:ext cx="10789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1700" b="1">
                <a:solidFill>
                  <a:srgbClr val="1B6FC4"/>
                </a:solidFill>
                <a:latin typeface="Microsoft YaHei"/>
              </a:rPr>
              <a:t>▎证据门禁</a:t>
            </a:r>
          </a:p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1500">
                <a:solidFill>
                  <a:srgbClr val="45567A"/>
                </a:solidFill>
                <a:latin typeface="Microsoft YaHei"/>
              </a:rPr>
              <a:t>项目特征缺口不能用模型记忆填：要么找到出处，要么由人尽调后授权放行——基本杜绝幻觉。</a:t>
            </a:r>
          </a:p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1700" b="1">
                <a:solidFill>
                  <a:srgbClr val="1B6FC4"/>
                </a:solidFill>
                <a:latin typeface="Microsoft YaHei"/>
              </a:rPr>
              <a:t>▎本地知识库</a:t>
            </a:r>
          </a:p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1500">
                <a:solidFill>
                  <a:srgbClr val="45567A"/>
                </a:solidFill>
                <a:latin typeface="Microsoft YaHei"/>
              </a:rPr>
              <a:t>规范、FIDIC 条款按文档自身章节切条入库，BM25 检索命中即定位 Clause；用户模板复刻企业版式；.apkb 传递包随项目流转。</a:t>
            </a:r>
          </a:p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1700" b="1">
                <a:solidFill>
                  <a:srgbClr val="1B6FC4"/>
                </a:solidFill>
                <a:latin typeface="Microsoft YaHei"/>
              </a:rPr>
              <a:t>▎出处芯片</a:t>
            </a:r>
          </a:p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1500">
                <a:solidFill>
                  <a:srgbClr val="45567A"/>
                </a:solidFill>
                <a:latin typeface="Microsoft YaHei"/>
              </a:rPr>
              <a:t>引用是出处不是摘抄：芯片只显示源文件、页或行、题目或段落，点击即达原文。</a:t>
            </a:r>
          </a:p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1700" b="1">
                <a:solidFill>
                  <a:srgbClr val="1B6FC4"/>
                </a:solidFill>
                <a:latin typeface="Microsoft YaHei"/>
              </a:rPr>
              <a:t>▎成果落盘</a:t>
            </a:r>
          </a:p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1500">
                <a:solidFill>
                  <a:srgbClr val="45567A"/>
                </a:solidFill>
                <a:latin typeface="Microsoft YaHei"/>
              </a:rPr>
              <a:t>统一成果树写回项目目录，崩溃重启不重做；正式稿上的人工修改留在原处。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9184"/>
            <a:ext cx="82296" cy="310896"/>
          </a:xfrm>
          <a:prstGeom prst="rect">
            <a:avLst/>
          </a:prstGeom>
          <a:solidFill>
            <a:srgbClr val="2F6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64592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1B6FC4"/>
                </a:solidFill>
                <a:latin typeface="Microsoft YaHei"/>
              </a:rPr>
              <a:t>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402336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>
                <a:solidFill>
                  <a:srgbClr val="0D1830"/>
                </a:solidFill>
                <a:latin typeface="Microsoft YaHei"/>
              </a:rPr>
              <a:t>核心流程：一次长程任务，从标书到标稿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274320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0">
                <a:solidFill>
                  <a:srgbClr val="8593AB"/>
                </a:solidFill>
                <a:latin typeface="Microsoft YaHei"/>
              </a:rPr>
              <a:t>海外业务赛道 · 向鑫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32688"/>
            <a:ext cx="12191695" cy="25400"/>
          </a:xfrm>
          <a:prstGeom prst="rect">
            <a:avLst/>
          </a:prstGeom>
          <a:solidFill>
            <a:srgbClr val="E2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3657600" cy="210312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72768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1">
                <a:solidFill>
                  <a:srgbClr val="1B6FC4"/>
                </a:solidFill>
                <a:latin typeface="Microsoft YaHei"/>
              </a:rPr>
              <a:t>01 标书全量解析，规范入库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48840"/>
            <a:ext cx="3200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45567A"/>
                </a:solidFill>
                <a:latin typeface="Microsoft YaHei"/>
              </a:rPr>
              <a:t>一次任务读完所有标书文件；规范、FIDIC 条款入库，与特别条款修订逐条对照总结。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371600"/>
            <a:ext cx="3657600" cy="210312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572768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1">
                <a:solidFill>
                  <a:srgbClr val="1B6FC4"/>
                </a:solidFill>
                <a:latin typeface="Microsoft YaHei"/>
              </a:rPr>
              <a:t>02 数千条 BOQ 逐项界定范围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48840"/>
            <a:ext cx="3200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45567A"/>
                </a:solidFill>
                <a:latin typeface="Microsoft YaHei"/>
              </a:rPr>
              <a:t>逐条引用规范、特别条款、FIDIC 修订界定工作范围，每条都有出处芯片。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80" y="1371600"/>
            <a:ext cx="3657600" cy="210312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572768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1">
                <a:solidFill>
                  <a:srgbClr val="1B6FC4"/>
                </a:solidFill>
                <a:latin typeface="Microsoft YaHei"/>
              </a:rPr>
              <a:t>03 五步推导算出每条单价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148840"/>
            <a:ext cx="3200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45567A"/>
                </a:solidFill>
                <a:latin typeface="Microsoft YaHei"/>
              </a:rPr>
              <a:t>结合企业数据与网络验证的工法、工效、资源实时实地价格，详尽五步推导。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703320"/>
            <a:ext cx="3657600" cy="210312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904488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1">
                <a:solidFill>
                  <a:srgbClr val="1B6FC4"/>
                </a:solidFill>
                <a:latin typeface="Microsoft YaHei"/>
              </a:rPr>
              <a:t>04 资源汇总与成本推定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480560"/>
            <a:ext cx="3200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45567A"/>
                </a:solidFill>
                <a:latin typeface="Microsoft YaHei"/>
              </a:rPr>
              <a:t>汇总资源清单与成本推定，带公式的组价测算表可直接改。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43400" y="3703320"/>
            <a:ext cx="3657600" cy="210312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3904488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1">
                <a:solidFill>
                  <a:srgbClr val="1B6FC4"/>
                </a:solidFill>
                <a:latin typeface="Microsoft YaHei"/>
              </a:rPr>
              <a:t>05 按项目特征施工推演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480560"/>
            <a:ext cx="3200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45567A"/>
                </a:solidFill>
                <a:latin typeface="Microsoft YaHei"/>
              </a:rPr>
              <a:t>建立一整套可执行的施工策划稿，不是空话套话。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83880" y="3703320"/>
            <a:ext cx="3657600" cy="210312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3904488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1">
                <a:solidFill>
                  <a:srgbClr val="1B6FC4"/>
                </a:solidFill>
                <a:latin typeface="Microsoft YaHei"/>
              </a:rPr>
              <a:t>06 照企业模板编制标稿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4480560"/>
            <a:ext cx="3200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45567A"/>
                </a:solidFill>
                <a:latin typeface="Microsoft YaHei"/>
              </a:rPr>
              <a:t>用户模板复刻版式、大纲与深度，项目事实永远来自本项目资料。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9184"/>
            <a:ext cx="82296" cy="310896"/>
          </a:xfrm>
          <a:prstGeom prst="rect">
            <a:avLst/>
          </a:prstGeom>
          <a:solidFill>
            <a:srgbClr val="2F6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64592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1B6FC4"/>
                </a:solidFill>
                <a:latin typeface="Microsoft YaHei"/>
              </a:rPr>
              <a:t>DESIGN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402336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>
                <a:solidFill>
                  <a:srgbClr val="0D1830"/>
                </a:solidFill>
                <a:latin typeface="Microsoft YaHei"/>
              </a:rPr>
              <a:t>三个深思熟虑的架构决策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274320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0">
                <a:solidFill>
                  <a:srgbClr val="8593AB"/>
                </a:solidFill>
                <a:latin typeface="Microsoft YaHei"/>
              </a:rPr>
              <a:t>海外业务赛道 · 向鑫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32688"/>
            <a:ext cx="12191695" cy="25400"/>
          </a:xfrm>
          <a:prstGeom prst="rect">
            <a:avLst/>
          </a:prstGeom>
          <a:solidFill>
            <a:srgbClr val="E2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1800"/>
              </a:spcAft>
            </a:pPr>
            <a:r>
              <a:rPr sz="1800" b="1">
                <a:solidFill>
                  <a:srgbClr val="1B6FC4"/>
                </a:solidFill>
                <a:latin typeface="Microsoft YaHei"/>
              </a:rPr>
              <a:t>▎知识库不堆 RAG：普通电脑就跑得动</a:t>
            </a:r>
          </a:p>
          <a:p>
            <a:pPr>
              <a:lnSpc>
                <a:spcPct val="135000"/>
              </a:lnSpc>
              <a:spcAft>
                <a:spcPts val="1800"/>
              </a:spcAft>
            </a:pPr>
            <a:r>
              <a:rPr sz="1600">
                <a:solidFill>
                  <a:srgbClr val="45567A"/>
                </a:solidFill>
                <a:latin typeface="Microsoft YaHei"/>
              </a:rPr>
              <a:t>RAG 要嵌入模型、向量库、GPU 与 Docker 编排——太重、用不起；向量检索是「相似度猜测」，检索到 ≠ 证据对。改为按文档自身章/节/条切分 + MiniSearch BM25：零重型依赖，每条命中精确定位到 Clause，出处当场可核。</a:t>
            </a:r>
          </a:p>
          <a:p>
            <a:pPr>
              <a:lnSpc>
                <a:spcPct val="135000"/>
              </a:lnSpc>
              <a:spcAft>
                <a:spcPts val="1800"/>
              </a:spcAft>
            </a:pPr>
            <a:r>
              <a:rPr sz="1800" b="1">
                <a:solidFill>
                  <a:srgbClr val="1B6FC4"/>
                </a:solidFill>
                <a:latin typeface="Microsoft YaHei"/>
              </a:rPr>
              <a:t>▎百万上下文：任务全程不失忆</a:t>
            </a:r>
          </a:p>
          <a:p>
            <a:pPr>
              <a:lnSpc>
                <a:spcPct val="135000"/>
              </a:lnSpc>
              <a:spcAft>
                <a:spcPts val="1800"/>
              </a:spcAft>
            </a:pPr>
            <a:r>
              <a:rPr sz="1600">
                <a:solidFill>
                  <a:srgbClr val="45567A"/>
                </a:solidFill>
                <a:latin typeface="Microsoft YaHei"/>
              </a:rPr>
              <a:t>DeepSeek V4 全系 1M tokens（约 800 页 PDF）——整套标书、规范、数千条 BOQ 与全部中间稿全程驻留上下文。模型不靠检索「猜」，而是在完整事实面前工作：任务始终围绕目标，不因截断而偏离。</a:t>
            </a:r>
          </a:p>
          <a:p>
            <a:pPr>
              <a:lnSpc>
                <a:spcPct val="135000"/>
              </a:lnSpc>
              <a:spcAft>
                <a:spcPts val="1800"/>
              </a:spcAft>
            </a:pPr>
            <a:r>
              <a:rPr sz="1800" b="1">
                <a:solidFill>
                  <a:srgbClr val="1B6FC4"/>
                </a:solidFill>
                <a:latin typeface="Microsoft YaHei"/>
              </a:rPr>
              <a:t>▎换到 DSH 架构：实测优于双架构</a:t>
            </a:r>
          </a:p>
          <a:p>
            <a:pPr>
              <a:lnSpc>
                <a:spcPct val="135000"/>
              </a:lnSpc>
              <a:spcAft>
                <a:spcPts val="1800"/>
              </a:spcAft>
            </a:pPr>
            <a:r>
              <a:rPr sz="1600">
                <a:solidFill>
                  <a:srgbClr val="45567A"/>
                </a:solidFill>
                <a:latin typeface="Microsoft YaHei"/>
              </a:rPr>
              <a:t>最难的 BOQ 逐条分析，DeepSeek Harness 架构运行效果明显优于 Claude Agent SDK + Pi 双架构——内核原生并行工人、持久 Bash 不再卡顿、长任务崩溃只救未完工部分。3.0 果断换芯：回合更短、token 更省、目标更稳。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9184"/>
            <a:ext cx="82296" cy="310896"/>
          </a:xfrm>
          <a:prstGeom prst="rect">
            <a:avLst/>
          </a:prstGeom>
          <a:solidFill>
            <a:srgbClr val="2F6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64592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1B6FC4"/>
                </a:solidFill>
                <a:latin typeface="Microsoft YaHei"/>
              </a:rPr>
              <a:t>REAL OUTPUTS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402336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>
                <a:solidFill>
                  <a:srgbClr val="0D1830"/>
                </a:solidFill>
                <a:latin typeface="Microsoft YaHei"/>
              </a:rPr>
              <a:t>效果表现：来自真实项目作业，不是演示摆拍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274320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0">
                <a:solidFill>
                  <a:srgbClr val="8593AB"/>
                </a:solidFill>
                <a:latin typeface="Microsoft YaHei"/>
              </a:rPr>
              <a:t>海外业务赛道 · 向鑫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32688"/>
            <a:ext cx="12191695" cy="25400"/>
          </a:xfrm>
          <a:prstGeom prst="rect">
            <a:avLst/>
          </a:prstGeom>
          <a:solidFill>
            <a:srgbClr val="E2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kb-workbench.png"/>
          <p:cNvPicPr>
            <a:picLocks noChangeAspect="1"/>
          </p:cNvPicPr>
          <p:nvPr/>
        </p:nvPicPr>
        <p:blipFill>
          <a:blip r:embed="rId2"/>
          <a:srcRect t="12178" b="12178"/>
          <a:stretch>
            <a:fillRect/>
          </a:stretch>
        </p:blipFill>
        <p:spPr>
          <a:xfrm>
            <a:off x="502920" y="1280160"/>
            <a:ext cx="5349240" cy="2331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3657600"/>
            <a:ext cx="5349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45567A"/>
                </a:solidFill>
                <a:latin typeface="Microsoft YaHei"/>
              </a:rPr>
              <a:t>知识库工作台：规范入库，BOQ 成果树逐条落盘</a:t>
            </a:r>
          </a:p>
        </p:txBody>
      </p:sp>
      <p:pic>
        <p:nvPicPr>
          <p:cNvPr id="10" name="Picture 9" descr="report-equity.png"/>
          <p:cNvPicPr>
            <a:picLocks noChangeAspect="1"/>
          </p:cNvPicPr>
          <p:nvPr/>
        </p:nvPicPr>
        <p:blipFill>
          <a:blip r:embed="rId3"/>
          <a:srcRect t="12334" b="12334"/>
          <a:stretch>
            <a:fillRect/>
          </a:stretch>
        </p:blipFill>
        <p:spPr>
          <a:xfrm>
            <a:off x="6355080" y="1280160"/>
            <a:ext cx="5349240" cy="2331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55080" y="3657600"/>
            <a:ext cx="5349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45567A"/>
                </a:solidFill>
                <a:latin typeface="Microsoft YaHei"/>
              </a:rPr>
              <a:t>投资尽调报告：咨询级版式一次成稿</a:t>
            </a:r>
          </a:p>
        </p:txBody>
      </p:sp>
      <p:pic>
        <p:nvPicPr>
          <p:cNvPr id="12" name="Picture 11" descr="report-stages.png"/>
          <p:cNvPicPr>
            <a:picLocks noChangeAspect="1"/>
          </p:cNvPicPr>
          <p:nvPr/>
        </p:nvPicPr>
        <p:blipFill>
          <a:blip r:embed="rId4"/>
          <a:srcRect t="16767" b="16767"/>
          <a:stretch>
            <a:fillRect/>
          </a:stretch>
        </p:blipFill>
        <p:spPr>
          <a:xfrm>
            <a:off x="502920" y="3977639"/>
            <a:ext cx="5349240" cy="23317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2920" y="6355079"/>
            <a:ext cx="5349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45567A"/>
                </a:solidFill>
                <a:latin typeface="Microsoft YaHei"/>
              </a:rPr>
              <a:t>市场尽调图表：开发阶段全景，来源逐条标注</a:t>
            </a:r>
          </a:p>
        </p:txBody>
      </p:sp>
      <p:pic>
        <p:nvPicPr>
          <p:cNvPr id="14" name="Picture 13" descr="report-map.png"/>
          <p:cNvPicPr>
            <a:picLocks noChangeAspect="1"/>
          </p:cNvPicPr>
          <p:nvPr/>
        </p:nvPicPr>
        <p:blipFill>
          <a:blip r:embed="rId5"/>
          <a:srcRect t="27072" b="27072"/>
          <a:stretch>
            <a:fillRect/>
          </a:stretch>
        </p:blipFill>
        <p:spPr>
          <a:xfrm>
            <a:off x="6355080" y="3977639"/>
            <a:ext cx="5349240" cy="23317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55080" y="6355079"/>
            <a:ext cx="5349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45567A"/>
                </a:solidFill>
                <a:latin typeface="Microsoft YaHei"/>
              </a:rPr>
              <a:t>矿区交通走廊地图：原创改绘示意图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9184"/>
            <a:ext cx="82296" cy="310896"/>
          </a:xfrm>
          <a:prstGeom prst="rect">
            <a:avLst/>
          </a:prstGeom>
          <a:solidFill>
            <a:srgbClr val="2F6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64592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1B6FC4"/>
                </a:solidFill>
                <a:latin typeface="Microsoft YaHei"/>
              </a:rPr>
              <a:t>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402336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>
                <a:solidFill>
                  <a:srgbClr val="0D1830"/>
                </a:solidFill>
                <a:latin typeface="Microsoft YaHei"/>
              </a:rPr>
              <a:t>落地与推广：从信息化到智能化的跃迁，可以从一台服务器开始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274320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0">
                <a:solidFill>
                  <a:srgbClr val="8593AB"/>
                </a:solidFill>
                <a:latin typeface="Microsoft YaHei"/>
              </a:rPr>
              <a:t>海外业务赛道 · 向鑫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32688"/>
            <a:ext cx="12191695" cy="25400"/>
          </a:xfrm>
          <a:prstGeom prst="rect">
            <a:avLst/>
          </a:prstGeom>
          <a:solidFill>
            <a:srgbClr val="E2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11201400" cy="841248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81328"/>
            <a:ext cx="2377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0D1830"/>
                </a:solidFill>
                <a:latin typeface="Microsoft YaHei"/>
              </a:rPr>
              <a:t>起步型（10–20 人）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481328"/>
            <a:ext cx="67665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45567A"/>
                </a:solidFill>
                <a:latin typeface="Microsoft YaHei"/>
              </a:rPr>
              <a:t>一台高配工作站：24GB 主流显卡 + 64GB 内存 + 2TB 固态硬盘，接入内网即可使用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1481328"/>
            <a:ext cx="1645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1B6FC4"/>
                </a:solidFill>
                <a:latin typeface="Microsoft YaHei"/>
              </a:rPr>
              <a:t>约 3 万元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322576"/>
            <a:ext cx="11201400" cy="841248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432304"/>
            <a:ext cx="2377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0D1830"/>
                </a:solidFill>
                <a:latin typeface="Microsoft YaHei"/>
              </a:rPr>
              <a:t>标准型（30–80 人）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432304"/>
            <a:ext cx="67665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45567A"/>
                </a:solidFill>
                <a:latin typeface="Microsoft YaHei"/>
              </a:rPr>
              <a:t>双显卡服务器 + 128GB 内存 + 万兆内网，全部业务流程常驻运行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2432304"/>
            <a:ext cx="1645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1B6FC4"/>
                </a:solidFill>
                <a:latin typeface="Microsoft YaHei"/>
              </a:rPr>
              <a:t>约 7–10 万元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273552"/>
            <a:ext cx="11201400" cy="841248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383280"/>
            <a:ext cx="2377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0D1830"/>
                </a:solidFill>
                <a:latin typeface="Microsoft YaHei"/>
              </a:rPr>
              <a:t>软件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383280"/>
            <a:ext cx="67665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45567A"/>
                </a:solidFill>
                <a:latin typeface="Microsoft YaHei"/>
              </a:rPr>
              <a:t>Agent Pi DSH 服务端、Qwen3.8-27B 本地多模态模型、MinerU、Docker——全部开源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3383280"/>
            <a:ext cx="1645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1B6FC4"/>
                </a:solidFill>
                <a:latin typeface="Microsoft YaHei"/>
              </a:rPr>
              <a:t>0 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224528"/>
            <a:ext cx="11201400" cy="841248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334256"/>
            <a:ext cx="2377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0D1830"/>
                </a:solidFill>
                <a:latin typeface="Microsoft YaHei"/>
              </a:rPr>
              <a:t>网络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334256"/>
            <a:ext cx="67665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45567A"/>
                </a:solidFill>
                <a:latin typeface="Microsoft YaHei"/>
              </a:rPr>
              <a:t>内网即可运行，数据不出内网；推送微信/飞书/钉钉只需服务器出站联网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4334256"/>
            <a:ext cx="1645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1B6FC4"/>
                </a:solidFill>
                <a:latin typeface="Microsoft YaHei"/>
              </a:rPr>
              <a:t>0 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539496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1600" b="1">
                <a:solidFill>
                  <a:srgbClr val="1B6FC4"/>
                </a:solidFill>
                <a:latin typeface="Microsoft YaHei"/>
              </a:rPr>
              <a:t>▎推广路线</a:t>
            </a:r>
          </a:p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1400">
                <a:solidFill>
                  <a:srgbClr val="45567A"/>
                </a:solidFill>
                <a:latin typeface="Microsoft YaHei"/>
              </a:rPr>
              <a:t>PDF 图纸工程量核算（进行中）→ 企业私有化部署：服务端 Web 多用户 + 微信/飞书/钉钉/QQ 接入 + OA 流程插件 → 建筑概念图 / 3D 建模 / BIM 信息化。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9184"/>
            <a:ext cx="82296" cy="310896"/>
          </a:xfrm>
          <a:prstGeom prst="rect">
            <a:avLst/>
          </a:prstGeom>
          <a:solidFill>
            <a:srgbClr val="2F6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64592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1B6FC4"/>
                </a:solidFill>
                <a:latin typeface="Microsoft YaHei"/>
              </a:rPr>
              <a:t>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402336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>
                <a:solidFill>
                  <a:srgbClr val="0D1830"/>
                </a:solidFill>
                <a:latin typeface="Microsoft YaHei"/>
              </a:rPr>
              <a:t>创作过程资料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274320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0">
                <a:solidFill>
                  <a:srgbClr val="8593AB"/>
                </a:solidFill>
                <a:latin typeface="Microsoft YaHei"/>
              </a:rPr>
              <a:t>海外业务赛道 · 向鑫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32688"/>
            <a:ext cx="12191695" cy="25400"/>
          </a:xfrm>
          <a:prstGeom prst="rect">
            <a:avLst/>
          </a:prstGeom>
          <a:solidFill>
            <a:srgbClr val="E2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789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600" b="1">
                <a:solidFill>
                  <a:srgbClr val="1B6FC4"/>
                </a:solidFill>
                <a:latin typeface="Microsoft YaHei"/>
              </a:rPr>
              <a:t>▎真实项目验证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400">
                <a:solidFill>
                  <a:srgbClr val="45567A"/>
                </a:solidFill>
                <a:latin typeface="Microsoft YaHei"/>
              </a:rPr>
              <a:t>系统已在海外真实项目作业中验证：一次任务生成 EB Cloete 立交 S0153-2 钢拱吊装可交互三维仿真——110m 跨径、分节吊装动画、应力热力图（经 MS FEM 校验）、参数与图纸对照、完整计算书。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600" b="1">
                <a:solidFill>
                  <a:srgbClr val="1B6FC4"/>
                </a:solidFill>
                <a:latin typeface="Microsoft YaHei"/>
              </a:rPr>
              <a:t>▎产品官网与文档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400">
                <a:solidFill>
                  <a:srgbClr val="45567A"/>
                </a:solidFill>
                <a:latin typeface="Microsoft YaHei"/>
              </a:rPr>
              <a:t>作品已形成完整产品形态：官方网站（www.agent-pi.app）、中英双语使用文档、34 个出厂领域技能、插件市场与知识库体系。</a:t>
            </a:r>
          </a:p>
        </p:txBody>
      </p:sp>
      <p:pic>
        <p:nvPicPr>
          <p:cNvPr id="9" name="Picture 8" descr="kb-workbench.png"/>
          <p:cNvPicPr>
            <a:picLocks noChangeAspect="1"/>
          </p:cNvPicPr>
          <p:nvPr/>
        </p:nvPicPr>
        <p:blipFill>
          <a:blip r:embed="rId2"/>
          <a:srcRect t="13755" b="13755"/>
          <a:stretch>
            <a:fillRect/>
          </a:stretch>
        </p:blipFill>
        <p:spPr>
          <a:xfrm>
            <a:off x="502920" y="3291840"/>
            <a:ext cx="7223760" cy="3017520"/>
          </a:xfrm>
          <a:prstGeom prst="rect">
            <a:avLst/>
          </a:prstGeom>
        </p:spPr>
      </p:pic>
      <p:pic>
        <p:nvPicPr>
          <p:cNvPr id="10" name="Picture 9" descr="screenshot-market.png"/>
          <p:cNvPicPr>
            <a:picLocks noChangeAspect="1"/>
          </p:cNvPicPr>
          <p:nvPr/>
        </p:nvPicPr>
        <p:blipFill>
          <a:blip r:embed="rId3"/>
          <a:srcRect l="18509" r="18509"/>
          <a:stretch>
            <a:fillRect/>
          </a:stretch>
        </p:blipFill>
        <p:spPr>
          <a:xfrm>
            <a:off x="8001000" y="3291840"/>
            <a:ext cx="370332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-light-v2.jpg"/>
          <p:cNvPicPr>
            <a:picLocks noChangeAspect="1"/>
          </p:cNvPicPr>
          <p:nvPr/>
        </p:nvPicPr>
        <p:blipFill>
          <a:blip r:embed="rId2"/>
          <a:srcRect t="8893" b="889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2651760"/>
            <a:ext cx="108813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4000" b="1">
                <a:solidFill>
                  <a:srgbClr val="0D1830"/>
                </a:solidFill>
                <a:latin typeface="Microsoft YaHei"/>
              </a:rPr>
              <a:t>谢谢聆听 · 恳请评委指导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931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45567A"/>
                </a:solidFill>
                <a:latin typeface="Microsoft YaHei"/>
              </a:rPr>
              <a:t>海外工程投标及商业调研全流程 AI 智能 Agent 作业系统　｜　海外业务赛道 · 向鑫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