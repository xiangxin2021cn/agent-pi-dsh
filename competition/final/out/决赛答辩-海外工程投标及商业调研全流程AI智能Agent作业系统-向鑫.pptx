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-dark-v2.jpg">    </p:cNvPr>
          <p:cNvPicPr>
            <a:picLocks noChangeAspect="1"/>
          </p:cNvPicPr>
          <p:nvPr/>
        </p:nvPicPr>
        <p:blipFill>
          <a:blip r:embed="rId1">
            <a:alphaModFix amt="84000"/>
          </a:blip>
          <a:stretch>
            <a:fillRect/>
          </a:stretch>
        </p:blipFill>
        <p:spPr>
          <a:xfrm>
            <a:off x="6656832" y="0"/>
            <a:ext cx="553486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269480" cy="6858000"/>
          </a:xfrm>
          <a:prstGeom prst="rect">
            <a:avLst/>
          </a:prstGeom>
          <a:solidFill>
            <a:srgbClr val="08223F"/>
          </a:solidFill>
          <a:ln w="12700">
            <a:solidFill>
              <a:srgbClr val="08223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766560" y="0"/>
            <a:ext cx="1143000" cy="6858000"/>
          </a:xfrm>
          <a:prstGeom prst="rect">
            <a:avLst/>
          </a:prstGeom>
          <a:solidFill>
            <a:srgbClr val="08223F">
              <a:alpha val="66000"/>
            </a:srgbClr>
          </a:solidFill>
          <a:ln w="12700">
            <a:solidFill>
              <a:srgbClr val="08223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" y="566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20" kern="0" dirty="0">
                <a:solidFill>
                  <a:srgbClr val="71E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CONVERGENCE ENGINE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1792" y="1143000"/>
            <a:ext cx="6035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海外工程投标及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商业调研全流程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21792" y="2788920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9E5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 Agent 作业系统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21792" y="3685032"/>
            <a:ext cx="5394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C7D9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让商业情报与工程投标两条长程作业流，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C7D9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在证据门禁中汇聚为可递交成果。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1792" y="4818888"/>
            <a:ext cx="1298448" cy="310896"/>
          </a:xfrm>
          <a:prstGeom prst="roundRect">
            <a:avLst/>
          </a:prstGeom>
          <a:solidFill>
            <a:srgbClr val="0A7581"/>
          </a:solidFill>
          <a:ln w="8890">
            <a:solidFill>
              <a:srgbClr val="0A75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482803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商业调研轨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48256" y="4818888"/>
            <a:ext cx="1298448" cy="310896"/>
          </a:xfrm>
          <a:prstGeom prst="roundRect">
            <a:avLst/>
          </a:prstGeom>
          <a:solidFill>
            <a:srgbClr val="1655A5"/>
          </a:solidFill>
          <a:ln w="8890">
            <a:solidFill>
              <a:srgbClr val="1655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21408" y="482803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工程投标轨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74720" y="4818888"/>
            <a:ext cx="1188720" cy="310896"/>
          </a:xfrm>
          <a:prstGeom prst="roundRect">
            <a:avLst/>
          </a:prstGeom>
          <a:solidFill>
            <a:srgbClr val="7CE9EE"/>
          </a:solidFill>
          <a:ln w="8890">
            <a:solidFill>
              <a:srgbClr val="7CE9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7872" y="482803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证据门禁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150608" y="1828800"/>
            <a:ext cx="1856232" cy="0"/>
          </a:xfrm>
          <a:prstGeom prst="line">
            <a:avLst/>
          </a:prstGeom>
          <a:noFill/>
          <a:ln w="53340">
            <a:solidFill>
              <a:srgbClr val="05B9C7">
                <a:alpha val="92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50608" y="4443984"/>
            <a:ext cx="1856232" cy="0"/>
          </a:xfrm>
          <a:prstGeom prst="line">
            <a:avLst/>
          </a:prstGeom>
          <a:noFill/>
          <a:ln w="53340">
            <a:solidFill>
              <a:srgbClr val="176EE8">
                <a:alpha val="9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06840" y="1828800"/>
            <a:ext cx="1389888" cy="1307592"/>
          </a:xfrm>
          <a:prstGeom prst="line">
            <a:avLst/>
          </a:prstGeom>
          <a:noFill/>
          <a:ln w="53340">
            <a:solidFill>
              <a:srgbClr val="05B9C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06840" y="4443984"/>
            <a:ext cx="1389888" cy="-1307592"/>
          </a:xfrm>
          <a:prstGeom prst="line">
            <a:avLst/>
          </a:prstGeom>
          <a:noFill/>
          <a:ln w="53340">
            <a:solidFill>
              <a:srgbClr val="176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04704" y="292608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296144" y="3017520"/>
            <a:ext cx="256032" cy="256032"/>
          </a:xfrm>
          <a:prstGeom prst="ellipse">
            <a:avLst/>
          </a:prstGeom>
          <a:solidFill>
            <a:srgbClr val="05B9C7"/>
          </a:solidFill>
          <a:ln w="12700">
            <a:solidFill>
              <a:srgbClr val="05B9C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349300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1792" y="5843016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中国建筑第二届青年设计师创新大赛 · 海外业务赛道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1792" y="6126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参赛人  向鑫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3385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79222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45059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0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767328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42569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8406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74243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13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20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5781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735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7688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THIS SYSTEM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6751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海外作业的难点，不是缺少信息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018520" y="466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2087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海外工程投标及商业调研全流程AI智能 Agent 作业系统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01200" y="620877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向鑫 · 海外业务赛道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21208" y="117957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而是信息太长、太散、太依赖个人经验，难以稳定转成正式成果。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566928" y="1865376"/>
            <a:ext cx="3319272" cy="2907792"/>
          </a:xfrm>
          <a:prstGeom prst="roundRect">
            <a:avLst/>
          </a:prstGeom>
          <a:solidFill>
            <a:srgbClr val="EAF2FF"/>
          </a:solidFill>
          <a:ln w="13335">
            <a:solidFill>
              <a:srgbClr val="176EE8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6384" y="206654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154680" y="2029968"/>
            <a:ext cx="411480" cy="411480"/>
          </a:xfrm>
          <a:prstGeom prst="ellipse">
            <a:avLst/>
          </a:prstGeom>
          <a:solidFill>
            <a:srgbClr val="176EE8"/>
          </a:solidFill>
          <a:ln w="12700">
            <a:solidFill>
              <a:srgbClr val="176EE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204825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" y="26791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长文件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786384" y="33649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招标书、规范、补遗与附件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跨章节、跨格式、跨语言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86384" y="4279392"/>
            <a:ext cx="2761488" cy="0"/>
          </a:xfrm>
          <a:prstGeom prst="line">
            <a:avLst/>
          </a:prstGeom>
          <a:noFill/>
          <a:ln w="31750">
            <a:solidFill>
              <a:srgbClr val="176EE8">
                <a:alpha val="8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1865376"/>
            <a:ext cx="3319272" cy="2907792"/>
          </a:xfrm>
          <a:prstGeom prst="roundRect">
            <a:avLst/>
          </a:prstGeom>
          <a:solidFill>
            <a:srgbClr val="E8FAFB"/>
          </a:solidFill>
          <a:ln w="13335">
            <a:solidFill>
              <a:srgbClr val="05B9C7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17136" y="206654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85432" y="2029968"/>
            <a:ext cx="411480" cy="411480"/>
          </a:xfrm>
          <a:prstGeom prst="ellipse">
            <a:avLst/>
          </a:prstGeom>
          <a:solidFill>
            <a:srgbClr val="05B9C7"/>
          </a:solidFill>
          <a:ln w="12700">
            <a:solidFill>
              <a:srgbClr val="05B9C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85432" y="204825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17136" y="26791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散情报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17136" y="33649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国别、业主、股权与项目阶段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来源分散，时点口径不同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4517136" y="4279392"/>
            <a:ext cx="2761488" cy="0"/>
          </a:xfrm>
          <a:prstGeom prst="line">
            <a:avLst/>
          </a:prstGeom>
          <a:noFill/>
          <a:ln w="31750">
            <a:solidFill>
              <a:srgbClr val="05B9C7">
                <a:alpha val="8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28432" y="1865376"/>
            <a:ext cx="3319272" cy="2907792"/>
          </a:xfrm>
          <a:prstGeom prst="roundRect">
            <a:avLst/>
          </a:prstGeom>
          <a:solidFill>
            <a:srgbClr val="E9EFF4"/>
          </a:solidFill>
          <a:ln w="13335">
            <a:solidFill>
              <a:srgbClr val="0B2E52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247888" y="206654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E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616184" y="2029968"/>
            <a:ext cx="411480" cy="411480"/>
          </a:xfrm>
          <a:prstGeom prst="ellipse">
            <a:avLst/>
          </a:prstGeom>
          <a:solidFill>
            <a:srgbClr val="0B2E52"/>
          </a:solidFill>
          <a:ln w="12700">
            <a:solidFill>
              <a:srgbClr val="0B2E52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16184" y="204825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247888" y="26791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经验组价</a:t>
            </a:r>
            <a:endParaRPr lang="en-US" sz="2300" dirty="0"/>
          </a:p>
        </p:txBody>
      </p:sp>
      <p:sp>
        <p:nvSpPr>
          <p:cNvPr id="49" name="Text 47"/>
          <p:cNvSpPr/>
          <p:nvPr/>
        </p:nvSpPr>
        <p:spPr>
          <a:xfrm>
            <a:off x="8247888" y="33649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范围、工法、工效与资源价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链条长，复核成本高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8247888" y="4279392"/>
            <a:ext cx="2761488" cy="0"/>
          </a:xfrm>
          <a:prstGeom prst="line">
            <a:avLst/>
          </a:prstGeom>
          <a:noFill/>
          <a:ln w="31750">
            <a:solidFill>
              <a:srgbClr val="0B2E52">
                <a:alpha val="8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61872" y="5266944"/>
            <a:ext cx="9656064" cy="713232"/>
          </a:xfrm>
          <a:prstGeom prst="roundRect">
            <a:avLst/>
          </a:prstGeom>
          <a:solidFill>
            <a:srgbClr val="08223F"/>
          </a:solidFill>
          <a:ln w="12700">
            <a:solidFill>
              <a:srgbClr val="08223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572768" y="54498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碎片输入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072384" y="5440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EE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3694176" y="54498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判断失真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330952" y="5440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EE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5925312" y="54498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重复返工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562088" y="5440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EE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8174736" y="54498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递交风险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3385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79222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45059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0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767328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42569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8406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74243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13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20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5781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735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7688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OVERVIEW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6751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双轨并行，经证据门禁汇聚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018520" y="466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2087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海外工程投标及商业调研全流程AI智能 Agent 作业系统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01200" y="620877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向鑫 · 海外业务赛道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30352" y="11704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个业务域 · 34 个领域 Skills · 统一成果树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66928" y="1719072"/>
            <a:ext cx="2084832" cy="347472"/>
          </a:xfrm>
          <a:prstGeom prst="roundRect">
            <a:avLst/>
          </a:prstGeom>
          <a:solidFill>
            <a:srgbClr val="05B9C7"/>
          </a:solidFill>
          <a:ln w="8890">
            <a:solidFill>
              <a:srgbClr val="05B9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172821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 A  商业调研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4041648"/>
            <a:ext cx="2084832" cy="347472"/>
          </a:xfrm>
          <a:prstGeom prst="roundRect">
            <a:avLst/>
          </a:prstGeom>
          <a:solidFill>
            <a:srgbClr val="176EE8"/>
          </a:solidFill>
          <a:ln w="8890">
            <a:solidFill>
              <a:srgbClr val="176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05079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 B  工程投标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8368" y="2340864"/>
            <a:ext cx="13441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5B9C7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8096" y="243230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68096" y="2606040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项目机会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240280" y="2340864"/>
            <a:ext cx="13441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5B9C7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350008" y="243230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50008" y="2606040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822192" y="2340864"/>
            <a:ext cx="13441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5B9C7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931920" y="243230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931920" y="2606040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业主伙伴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04104" y="2340864"/>
            <a:ext cx="13441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5B9C7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513832" y="243230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13832" y="2606040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风险决策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58368" y="4645152"/>
            <a:ext cx="13441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76EE8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68096" y="47365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68096" y="491032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全量解析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240280" y="4645152"/>
            <a:ext cx="13441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76EE8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350008" y="47365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350008" y="491032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条款知识库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822192" y="4645152"/>
            <a:ext cx="13441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76EE8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931920" y="47365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931920" y="491032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BOQ 组价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404104" y="4645152"/>
            <a:ext cx="13441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76EE8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513832" y="47365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513832" y="491032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策划标稿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2002536" y="2624328"/>
            <a:ext cx="237744" cy="0"/>
          </a:xfrm>
          <a:prstGeom prst="line">
            <a:avLst/>
          </a:prstGeom>
          <a:noFill/>
          <a:ln w="25400">
            <a:solidFill>
              <a:srgbClr val="05B9C7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002536" y="4928616"/>
            <a:ext cx="237744" cy="0"/>
          </a:xfrm>
          <a:prstGeom prst="line">
            <a:avLst/>
          </a:prstGeom>
          <a:noFill/>
          <a:ln w="25400">
            <a:solidFill>
              <a:srgbClr val="176EE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3584448" y="2624328"/>
            <a:ext cx="237744" cy="0"/>
          </a:xfrm>
          <a:prstGeom prst="line">
            <a:avLst/>
          </a:prstGeom>
          <a:noFill/>
          <a:ln w="25400">
            <a:solidFill>
              <a:srgbClr val="05B9C7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3584448" y="4928616"/>
            <a:ext cx="237744" cy="0"/>
          </a:xfrm>
          <a:prstGeom prst="line">
            <a:avLst/>
          </a:prstGeom>
          <a:noFill/>
          <a:ln w="25400">
            <a:solidFill>
              <a:srgbClr val="176EE8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166360" y="2624328"/>
            <a:ext cx="237744" cy="0"/>
          </a:xfrm>
          <a:prstGeom prst="line">
            <a:avLst/>
          </a:prstGeom>
          <a:noFill/>
          <a:ln w="25400">
            <a:solidFill>
              <a:srgbClr val="05B9C7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5166360" y="4928616"/>
            <a:ext cx="237744" cy="0"/>
          </a:xfrm>
          <a:prstGeom prst="line">
            <a:avLst/>
          </a:prstGeom>
          <a:noFill/>
          <a:ln w="25400">
            <a:solidFill>
              <a:srgbClr val="176EE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748272" y="2624328"/>
            <a:ext cx="1115568" cy="868680"/>
          </a:xfrm>
          <a:prstGeom prst="line">
            <a:avLst/>
          </a:prstGeom>
          <a:noFill/>
          <a:ln w="40640">
            <a:solidFill>
              <a:srgbClr val="05B9C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48272" y="4928616"/>
            <a:ext cx="1115568" cy="-1435608"/>
          </a:xfrm>
          <a:prstGeom prst="line">
            <a:avLst/>
          </a:prstGeom>
          <a:noFill/>
          <a:ln w="40640">
            <a:solidFill>
              <a:srgbClr val="176E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44968" y="2542032"/>
            <a:ext cx="1481328" cy="1938528"/>
          </a:xfrm>
          <a:prstGeom prst="roundRect">
            <a:avLst/>
          </a:prstGeom>
          <a:solidFill>
            <a:srgbClr val="08223F"/>
          </a:solidFill>
          <a:ln w="10160">
            <a:solidFill>
              <a:srgbClr val="08223F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927848" y="2788920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7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927848" y="337413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证据门禁</a:t>
            </a:r>
            <a:endParaRPr lang="en-US" sz="1700" dirty="0"/>
          </a:p>
        </p:txBody>
      </p:sp>
      <p:sp>
        <p:nvSpPr>
          <p:cNvPr id="69" name="Text 67"/>
          <p:cNvSpPr/>
          <p:nvPr/>
        </p:nvSpPr>
        <p:spPr>
          <a:xfrm>
            <a:off x="7927848" y="3803904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7CB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· 日期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7CB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适用口径 · 冲突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226296" y="3511296"/>
            <a:ext cx="502920" cy="0"/>
          </a:xfrm>
          <a:prstGeom prst="line">
            <a:avLst/>
          </a:prstGeom>
          <a:noFill/>
          <a:ln w="38100">
            <a:solidFill>
              <a:srgbClr val="176EE8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9802368" y="2148840"/>
            <a:ext cx="1810512" cy="2743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6EE8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0387584" y="2441448"/>
            <a:ext cx="621792" cy="621792"/>
          </a:xfrm>
          <a:prstGeom prst="ellipse">
            <a:avLst/>
          </a:prstGeom>
          <a:solidFill>
            <a:srgbClr val="E8FAFB"/>
          </a:solidFill>
          <a:ln w="12700">
            <a:solidFill>
              <a:srgbClr val="E8FAFB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387584" y="2459736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10003536" y="3236976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Official Outputs</a:t>
            </a:r>
            <a:endParaRPr lang="en-US" sz="1450" dirty="0"/>
          </a:p>
        </p:txBody>
      </p:sp>
      <p:sp>
        <p:nvSpPr>
          <p:cNvPr id="75" name="Text 73"/>
          <p:cNvSpPr/>
          <p:nvPr/>
        </p:nvSpPr>
        <p:spPr>
          <a:xfrm>
            <a:off x="10003536" y="3685032"/>
            <a:ext cx="1408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决策报告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组价工作簿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施工策划 · 投标标稿</a:t>
            </a:r>
            <a:endParaRPr lang="en-US" sz="1120" dirty="0"/>
          </a:p>
        </p:txBody>
      </p:sp>
      <p:sp>
        <p:nvSpPr>
          <p:cNvPr id="76" name="Shape 74"/>
          <p:cNvSpPr/>
          <p:nvPr/>
        </p:nvSpPr>
        <p:spPr>
          <a:xfrm>
            <a:off x="9957816" y="5193792"/>
            <a:ext cx="896112" cy="310896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EAF2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30968" y="520293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920" dirty="0"/>
          </a:p>
        </p:txBody>
      </p:sp>
      <p:sp>
        <p:nvSpPr>
          <p:cNvPr id="78" name="Shape 76"/>
          <p:cNvSpPr/>
          <p:nvPr/>
        </p:nvSpPr>
        <p:spPr>
          <a:xfrm>
            <a:off x="10936224" y="5193792"/>
            <a:ext cx="658368" cy="310896"/>
          </a:xfrm>
          <a:prstGeom prst="roundRect">
            <a:avLst/>
          </a:prstGeom>
          <a:solidFill>
            <a:srgbClr val="E8FAFB"/>
          </a:solidFill>
          <a:ln w="8890">
            <a:solidFill>
              <a:srgbClr val="E8FAF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009376" y="52029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可复核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3385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79222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45059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0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767328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42569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8406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74243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13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20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5781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735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7688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 A · COMMERCIAL RESEARCH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6751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商业调研：从信息搜索到可引用结论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018520" y="466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2087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海外工程投标及商业调研全流程AI智能 Agent 作业系统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01200" y="620877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向鑫 · 海外业务赛道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30352" y="117957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项目机会 → 国别 / 市场 → 业主 / 合作方 → 股权与风险 → 投标决策</a:t>
            </a:r>
            <a:endParaRPr lang="en-US" sz="1380" dirty="0"/>
          </a:p>
        </p:txBody>
      </p:sp>
      <p:sp>
        <p:nvSpPr>
          <p:cNvPr id="30" name="Shape 28"/>
          <p:cNvSpPr/>
          <p:nvPr/>
        </p:nvSpPr>
        <p:spPr>
          <a:xfrm>
            <a:off x="713232" y="1938528"/>
            <a:ext cx="493776" cy="493776"/>
          </a:xfrm>
          <a:prstGeom prst="ellipse">
            <a:avLst/>
          </a:prstGeom>
          <a:solidFill>
            <a:srgbClr val="05B9C7"/>
          </a:solidFill>
          <a:ln w="12700">
            <a:solidFill>
              <a:srgbClr val="05B9C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20025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" y="256946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找信号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207008" y="2185416"/>
            <a:ext cx="740664" cy="0"/>
          </a:xfrm>
          <a:prstGeom prst="line">
            <a:avLst/>
          </a:prstGeom>
          <a:noFill/>
          <a:ln w="22860">
            <a:solidFill>
              <a:srgbClr val="05B9C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947672" y="1938528"/>
            <a:ext cx="493776" cy="493776"/>
          </a:xfrm>
          <a:prstGeom prst="ellipse">
            <a:avLst/>
          </a:prstGeom>
          <a:solidFill>
            <a:srgbClr val="05B9C7"/>
          </a:solidFill>
          <a:ln w="12700">
            <a:solidFill>
              <a:srgbClr val="05B9C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47672" y="20025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55648" y="256946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核时点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441448" y="2185416"/>
            <a:ext cx="740664" cy="0"/>
          </a:xfrm>
          <a:prstGeom prst="line">
            <a:avLst/>
          </a:prstGeom>
          <a:noFill/>
          <a:ln w="22860">
            <a:solidFill>
              <a:srgbClr val="05B9C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182112" y="1938528"/>
            <a:ext cx="493776" cy="493776"/>
          </a:xfrm>
          <a:prstGeom prst="ellipse">
            <a:avLst/>
          </a:prstGeom>
          <a:solidFill>
            <a:srgbClr val="05B9C7"/>
          </a:solidFill>
          <a:ln w="12700">
            <a:solidFill>
              <a:srgbClr val="05B9C7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82112" y="20025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90088" y="256946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串关系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75888" y="2185416"/>
            <a:ext cx="740664" cy="0"/>
          </a:xfrm>
          <a:prstGeom prst="line">
            <a:avLst/>
          </a:prstGeom>
          <a:noFill/>
          <a:ln w="22860">
            <a:solidFill>
              <a:srgbClr val="05B9C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16552" y="1938528"/>
            <a:ext cx="493776" cy="493776"/>
          </a:xfrm>
          <a:prstGeom prst="ellipse">
            <a:avLst/>
          </a:prstGeom>
          <a:solidFill>
            <a:srgbClr val="08223F"/>
          </a:solidFill>
          <a:ln w="12700">
            <a:solidFill>
              <a:srgbClr val="08223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20025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224528" y="256946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写结论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3236976"/>
            <a:ext cx="4526280" cy="2139696"/>
          </a:xfrm>
          <a:prstGeom prst="roundRect">
            <a:avLst/>
          </a:prstGeom>
          <a:solidFill>
            <a:srgbClr val="08223F"/>
          </a:solidFill>
          <a:ln w="10160">
            <a:solidFill>
              <a:srgbClr val="08223F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41248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不是“搜到什么就写什么”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41248" y="4133088"/>
            <a:ext cx="3785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C5D7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每个判断绑定来源、日期与适用口径；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C5D7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当来源冲突，保留差异并进入人工复核。</a:t>
            </a:r>
            <a:endParaRPr lang="en-US" sz="1340" dirty="0"/>
          </a:p>
        </p:txBody>
      </p:sp>
      <p:sp>
        <p:nvSpPr>
          <p:cNvPr id="48" name="Shape 46"/>
          <p:cNvSpPr/>
          <p:nvPr/>
        </p:nvSpPr>
        <p:spPr>
          <a:xfrm>
            <a:off x="841248" y="4901184"/>
            <a:ext cx="987552" cy="310896"/>
          </a:xfrm>
          <a:prstGeom prst="roundRect">
            <a:avLst/>
          </a:prstGeom>
          <a:solidFill>
            <a:srgbClr val="113B57"/>
          </a:solidFill>
          <a:ln w="8890">
            <a:solidFill>
              <a:srgbClr val="113B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49103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公司公告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1938528" y="4901184"/>
            <a:ext cx="987552" cy="310896"/>
          </a:xfrm>
          <a:prstGeom prst="roundRect">
            <a:avLst/>
          </a:prstGeom>
          <a:solidFill>
            <a:srgbClr val="113B57"/>
          </a:solidFill>
          <a:ln w="8890">
            <a:solidFill>
              <a:srgbClr val="113B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11680" y="49103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业主官网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3035808" y="4901184"/>
            <a:ext cx="987552" cy="310896"/>
          </a:xfrm>
          <a:prstGeom prst="roundRect">
            <a:avLst/>
          </a:prstGeom>
          <a:solidFill>
            <a:srgbClr val="113B57"/>
          </a:solidFill>
          <a:ln w="8890">
            <a:solidFill>
              <a:srgbClr val="113B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0" y="49103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项目阶段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5431536" y="1581912"/>
            <a:ext cx="2898648" cy="2167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pic>
        <p:nvPicPr>
          <p:cNvPr id="55" name="Image 0" descr="report-equ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655064"/>
            <a:ext cx="2752344" cy="2020824"/>
          </a:xfrm>
          <a:prstGeom prst="rect">
            <a:avLst/>
          </a:prstGeom>
        </p:spPr>
      </p:pic>
      <p:sp>
        <p:nvSpPr>
          <p:cNvPr id="56" name="Shape 53"/>
          <p:cNvSpPr/>
          <p:nvPr/>
        </p:nvSpPr>
        <p:spPr>
          <a:xfrm>
            <a:off x="8549640" y="1581912"/>
            <a:ext cx="3072384" cy="2167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pic>
        <p:nvPicPr>
          <p:cNvPr id="57" name="Image 1" descr="report-st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2" y="1655064"/>
            <a:ext cx="2926080" cy="2020824"/>
          </a:xfrm>
          <a:prstGeom prst="rect">
            <a:avLst/>
          </a:prstGeom>
        </p:spPr>
      </p:pic>
      <p:sp>
        <p:nvSpPr>
          <p:cNvPr id="58" name="Shape 54"/>
          <p:cNvSpPr/>
          <p:nvPr/>
        </p:nvSpPr>
        <p:spPr>
          <a:xfrm>
            <a:off x="5431536" y="3986784"/>
            <a:ext cx="2898648" cy="2084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pic>
        <p:nvPicPr>
          <p:cNvPr id="59" name="Image 2" descr="report-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4059936"/>
            <a:ext cx="2752344" cy="193852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8549640" y="3986784"/>
            <a:ext cx="3072384" cy="2084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pic>
        <p:nvPicPr>
          <p:cNvPr id="61" name="Image 3" descr="screenshot-mar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4059936"/>
            <a:ext cx="2926080" cy="1938528"/>
          </a:xfrm>
          <a:prstGeom prst="rect">
            <a:avLst/>
          </a:prstGeom>
        </p:spPr>
      </p:pic>
      <p:sp>
        <p:nvSpPr>
          <p:cNvPr id="62" name="Shape 56"/>
          <p:cNvSpPr/>
          <p:nvPr/>
        </p:nvSpPr>
        <p:spPr>
          <a:xfrm>
            <a:off x="5559552" y="3337560"/>
            <a:ext cx="82296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5632704" y="334670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股权关系</a:t>
            </a:r>
            <a:endParaRPr lang="en-US" sz="900" dirty="0"/>
          </a:p>
        </p:txBody>
      </p:sp>
      <p:sp>
        <p:nvSpPr>
          <p:cNvPr id="64" name="Shape 58"/>
          <p:cNvSpPr/>
          <p:nvPr/>
        </p:nvSpPr>
        <p:spPr>
          <a:xfrm>
            <a:off x="8677656" y="3337560"/>
            <a:ext cx="82296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8750808" y="334670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项目阶段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5559552" y="5650992"/>
            <a:ext cx="82296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5632704" y="566013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区域走廊</a:t>
            </a:r>
            <a:endParaRPr lang="en-US" sz="900" dirty="0"/>
          </a:p>
        </p:txBody>
      </p:sp>
      <p:sp>
        <p:nvSpPr>
          <p:cNvPr id="68" name="Shape 62"/>
          <p:cNvSpPr/>
          <p:nvPr/>
        </p:nvSpPr>
        <p:spPr>
          <a:xfrm>
            <a:off x="8677656" y="5650992"/>
            <a:ext cx="932688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8750808" y="5660136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调研工作台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3385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79222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45059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0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767328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42569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8406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74243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13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20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5781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735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7688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 B · TENDER DELIVERY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6751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工程投标：六步把招标文件变成标稿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018520" y="466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2087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海外工程投标及商业调研全流程AI智能 Agent 作业系统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01200" y="620877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向鑫 · 海外业务赛道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30352" y="117957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输入不是“一个 PDF”，而是一组必须彼此校验的招标文件、规范、BOQ 与补遗。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530352" y="1728216"/>
            <a:ext cx="1901952" cy="4224528"/>
          </a:xfrm>
          <a:prstGeom prst="roundRect">
            <a:avLst/>
          </a:prstGeom>
          <a:solidFill>
            <a:srgbClr val="08223F"/>
          </a:solidFill>
          <a:ln w="10160">
            <a:solidFill>
              <a:srgbClr val="08223F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6384" y="19933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80" kern="0" dirty="0">
                <a:solidFill>
                  <a:srgbClr val="73E3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86384" y="237744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招标全量文件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68096" y="3026664"/>
            <a:ext cx="1399032" cy="347472"/>
          </a:xfrm>
          <a:prstGeom prst="roundRect">
            <a:avLst/>
          </a:prstGeom>
          <a:solidFill>
            <a:srgbClr val="113B57"/>
          </a:solidFill>
          <a:ln w="8890">
            <a:solidFill>
              <a:srgbClr val="113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035808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CB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招标书 / 规范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768096" y="3557016"/>
            <a:ext cx="1399032" cy="347472"/>
          </a:xfrm>
          <a:prstGeom prst="roundRect">
            <a:avLst/>
          </a:prstGeom>
          <a:solidFill>
            <a:srgbClr val="113B57"/>
          </a:solidFill>
          <a:ln w="8890">
            <a:solidFill>
              <a:srgbClr val="113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3566160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CB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BOQ / 图纸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768096" y="4087368"/>
            <a:ext cx="1399032" cy="347472"/>
          </a:xfrm>
          <a:prstGeom prst="roundRect">
            <a:avLst/>
          </a:prstGeom>
          <a:solidFill>
            <a:srgbClr val="113B57"/>
          </a:solidFill>
          <a:ln w="8890">
            <a:solidFill>
              <a:srgbClr val="113B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4096512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CB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补遗 / 澄清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768096" y="4617720"/>
            <a:ext cx="1399032" cy="347472"/>
          </a:xfrm>
          <a:prstGeom prst="roundRect">
            <a:avLst/>
          </a:prstGeom>
          <a:solidFill>
            <a:srgbClr val="113B57"/>
          </a:solidFill>
          <a:ln w="8890">
            <a:solidFill>
              <a:srgbClr val="113B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4626864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CB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企业模板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2798064" y="1783080"/>
            <a:ext cx="1746504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962656" y="194767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962656" y="231343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全量解析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2962656" y="2825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建立文件清单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44568" y="2596896"/>
            <a:ext cx="310896" cy="0"/>
          </a:xfrm>
          <a:prstGeom prst="line">
            <a:avLst/>
          </a:prstGeom>
          <a:noFill/>
          <a:ln w="22860">
            <a:solidFill>
              <a:srgbClr val="176EE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855464" y="1783080"/>
            <a:ext cx="1746504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020056" y="194767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0056" y="231343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条款索引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5020056" y="2825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 / 节 / Clause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601968" y="2596896"/>
            <a:ext cx="310896" cy="0"/>
          </a:xfrm>
          <a:prstGeom prst="line">
            <a:avLst/>
          </a:prstGeom>
          <a:noFill/>
          <a:ln w="22860">
            <a:solidFill>
              <a:srgbClr val="176EE8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912864" y="1783080"/>
            <a:ext cx="1746504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077456" y="194767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77456" y="231343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范围界定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7077456" y="2825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包含项与排除项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98064" y="3877056"/>
            <a:ext cx="1746504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962656" y="404164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962656" y="440740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BOQ 组价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2962656" y="4919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五步可复算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44568" y="4690872"/>
            <a:ext cx="310896" cy="0"/>
          </a:xfrm>
          <a:prstGeom prst="line">
            <a:avLst/>
          </a:prstGeom>
          <a:noFill/>
          <a:ln w="22860">
            <a:solidFill>
              <a:srgbClr val="176EE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855464" y="3877056"/>
            <a:ext cx="1746504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020056" y="404164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020056" y="440740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施工推演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5020056" y="4919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工法与阶段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601968" y="4690872"/>
            <a:ext cx="310896" cy="0"/>
          </a:xfrm>
          <a:prstGeom prst="line">
            <a:avLst/>
          </a:prstGeom>
          <a:noFill/>
          <a:ln w="22860">
            <a:solidFill>
              <a:srgbClr val="176EE8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912864" y="3877056"/>
            <a:ext cx="1746504" cy="1627632"/>
          </a:xfrm>
          <a:prstGeom prst="roundRect">
            <a:avLst/>
          </a:prstGeom>
          <a:solidFill>
            <a:srgbClr val="EAF2FF"/>
          </a:solidFill>
          <a:ln w="16510">
            <a:solidFill>
              <a:srgbClr val="176EE8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077456" y="404164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077456" y="440740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模板标稿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7077456" y="4919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统一成果树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848856" y="3410712"/>
            <a:ext cx="-4050792" cy="457200"/>
          </a:xfrm>
          <a:prstGeom prst="line">
            <a:avLst/>
          </a:prstGeom>
          <a:noFill/>
          <a:ln w="22860">
            <a:solidFill>
              <a:srgbClr val="176EE8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9217152" y="1728216"/>
            <a:ext cx="2414016" cy="42245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B9C7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9491472" y="199339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8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9491472" y="237744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可递交成果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9500616" y="3044952"/>
            <a:ext cx="256032" cy="256032"/>
          </a:xfrm>
          <a:prstGeom prst="ellipse">
            <a:avLst/>
          </a:prstGeom>
          <a:solidFill>
            <a:srgbClr val="176EE8"/>
          </a:solidFill>
          <a:ln w="12700">
            <a:solidFill>
              <a:srgbClr val="176EE8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500616" y="305409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9902952" y="299923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条款与风险清单</a:t>
            </a:r>
            <a:endParaRPr lang="en-US" sz="1120" dirty="0"/>
          </a:p>
        </p:txBody>
      </p:sp>
      <p:sp>
        <p:nvSpPr>
          <p:cNvPr id="76" name="Shape 74"/>
          <p:cNvSpPr/>
          <p:nvPr/>
        </p:nvSpPr>
        <p:spPr>
          <a:xfrm>
            <a:off x="9500616" y="3648456"/>
            <a:ext cx="256032" cy="256032"/>
          </a:xfrm>
          <a:prstGeom prst="ellipse">
            <a:avLst/>
          </a:prstGeom>
          <a:solidFill>
            <a:srgbClr val="176EE8"/>
          </a:solidFill>
          <a:ln w="12700">
            <a:solidFill>
              <a:srgbClr val="176EE8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500616" y="36576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9902952" y="36027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BOQ 组价工作簿</a:t>
            </a:r>
            <a:endParaRPr lang="en-US" sz="1120" dirty="0"/>
          </a:p>
        </p:txBody>
      </p:sp>
      <p:sp>
        <p:nvSpPr>
          <p:cNvPr id="79" name="Shape 77"/>
          <p:cNvSpPr/>
          <p:nvPr/>
        </p:nvSpPr>
        <p:spPr>
          <a:xfrm>
            <a:off x="9500616" y="4251960"/>
            <a:ext cx="256032" cy="256032"/>
          </a:xfrm>
          <a:prstGeom prst="ellipse">
            <a:avLst/>
          </a:prstGeom>
          <a:solidFill>
            <a:srgbClr val="176EE8"/>
          </a:solidFill>
          <a:ln w="12700">
            <a:solidFill>
              <a:srgbClr val="176EE8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500616" y="426110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9902952" y="42062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施工策划</a:t>
            </a:r>
            <a:endParaRPr lang="en-US" sz="1120" dirty="0"/>
          </a:p>
        </p:txBody>
      </p:sp>
      <p:sp>
        <p:nvSpPr>
          <p:cNvPr id="82" name="Shape 80"/>
          <p:cNvSpPr/>
          <p:nvPr/>
        </p:nvSpPr>
        <p:spPr>
          <a:xfrm>
            <a:off x="9500616" y="4855464"/>
            <a:ext cx="256032" cy="256032"/>
          </a:xfrm>
          <a:prstGeom prst="ellipse">
            <a:avLst/>
          </a:prstGeom>
          <a:solidFill>
            <a:srgbClr val="05B9C7"/>
          </a:solidFill>
          <a:ln w="12700">
            <a:solidFill>
              <a:srgbClr val="05B9C7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500616" y="486460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9902952" y="48097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企业模板标稿</a:t>
            </a:r>
            <a:endParaRPr lang="en-US" sz="1120" dirty="0"/>
          </a:p>
        </p:txBody>
      </p:sp>
      <p:sp>
        <p:nvSpPr>
          <p:cNvPr id="85" name="Shape 83"/>
          <p:cNvSpPr/>
          <p:nvPr/>
        </p:nvSpPr>
        <p:spPr>
          <a:xfrm>
            <a:off x="9482328" y="5468112"/>
            <a:ext cx="1810512" cy="347472"/>
          </a:xfrm>
          <a:prstGeom prst="roundRect">
            <a:avLst/>
          </a:prstGeom>
          <a:solidFill>
            <a:srgbClr val="E8FAFB"/>
          </a:solidFill>
          <a:ln w="8890">
            <a:solidFill>
              <a:srgbClr val="E8FAF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555480" y="5477256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核验点：源文件 / 页 / 条款 / 行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3385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79222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45059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0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767328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42569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8406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74243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13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20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5781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735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7688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BOQ PRICING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6751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BOQ 定价：五步推导，一条可复算证据链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018520" y="466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2087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海外工程投标及商业调研全流程AI智能 Agent 作业系统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01200" y="620877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向鑫 · 海外业务赛道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30352" y="11795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 → 工法 → 工效 → 资源价格 → 单价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66928" y="1874520"/>
            <a:ext cx="22402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EE8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3232" y="2020824"/>
            <a:ext cx="402336" cy="256032"/>
          </a:xfrm>
          <a:prstGeom prst="roundRect">
            <a:avLst/>
          </a:prstGeom>
          <a:solidFill>
            <a:srgbClr val="176EE8"/>
          </a:solidFill>
          <a:ln w="8890">
            <a:solidFill>
              <a:srgbClr val="176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20299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225296" y="20116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范围界定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225296" y="2340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计量规则 / 包含项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1645920" y="2450592"/>
            <a:ext cx="22402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EE8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792224" y="2596896"/>
            <a:ext cx="402336" cy="256032"/>
          </a:xfrm>
          <a:prstGeom prst="roundRect">
            <a:avLst/>
          </a:prstGeom>
          <a:solidFill>
            <a:srgbClr val="176EE8"/>
          </a:solidFill>
          <a:ln w="8890">
            <a:solidFill>
              <a:srgbClr val="176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65376" y="26060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2304288" y="25877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工法选定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304288" y="29169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施工序列 / 约束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2724912" y="3026664"/>
            <a:ext cx="22402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EE8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871216" y="3172968"/>
            <a:ext cx="402336" cy="256032"/>
          </a:xfrm>
          <a:prstGeom prst="roundRect">
            <a:avLst/>
          </a:prstGeom>
          <a:solidFill>
            <a:srgbClr val="176EE8"/>
          </a:solidFill>
          <a:ln w="8890">
            <a:solidFill>
              <a:srgbClr val="176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44368" y="31821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3383280" y="31638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工效测定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3383280" y="3493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班组 / 工时 / 瓶颈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3803904" y="3602736"/>
            <a:ext cx="22402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B9C7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950208" y="3749040"/>
            <a:ext cx="402336" cy="256032"/>
          </a:xfrm>
          <a:prstGeom prst="roundRect">
            <a:avLst/>
          </a:prstGeom>
          <a:solidFill>
            <a:srgbClr val="05B9C7"/>
          </a:solidFill>
          <a:ln w="8890">
            <a:solidFill>
              <a:srgbClr val="05B9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0" y="375818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4462272" y="37398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资源取价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4462272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 / 日期 / 来源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4882896" y="4178808"/>
            <a:ext cx="2240280" cy="859536"/>
          </a:xfrm>
          <a:prstGeom prst="roundRect">
            <a:avLst/>
          </a:prstGeom>
          <a:solidFill>
            <a:srgbClr val="08223F"/>
          </a:solidFill>
          <a:ln w="12700">
            <a:solidFill>
              <a:srgbClr val="08223F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029200" y="4325112"/>
            <a:ext cx="402336" cy="256032"/>
          </a:xfrm>
          <a:prstGeom prst="roundRect">
            <a:avLst/>
          </a:prstGeom>
          <a:solidFill>
            <a:srgbClr val="79E7EA"/>
          </a:solidFill>
          <a:ln w="8890">
            <a:solidFill>
              <a:srgbClr val="79E7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02352" y="433425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5541264" y="4315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单价合成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5541264" y="4645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D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 × 费率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7187184" y="1581912"/>
            <a:ext cx="443484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461504" y="18196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真实工作底稿摘录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0314432" y="1828800"/>
            <a:ext cx="987552" cy="310896"/>
          </a:xfrm>
          <a:prstGeom prst="roundRect">
            <a:avLst/>
          </a:prstGeom>
          <a:solidFill>
            <a:srgbClr val="FDEDED"/>
          </a:solidFill>
          <a:ln w="8890">
            <a:solidFill>
              <a:srgbClr val="F5CAC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387584" y="183794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85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旧项目示例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7461504" y="2240280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C5.1.1 原状料压实至 95% MDD · COTO A5.1.3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7443216" y="2688336"/>
            <a:ext cx="3913632" cy="420624"/>
          </a:xfrm>
          <a:prstGeom prst="rect">
            <a:avLst/>
          </a:prstGeom>
          <a:solidFill>
            <a:srgbClr val="08223F"/>
          </a:solidFill>
          <a:ln w="7620">
            <a:solidFill>
              <a:srgbClr val="D8E4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71232" y="2715768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成本项</a:t>
            </a:r>
            <a:endParaRPr lang="en-US" sz="940" dirty="0"/>
          </a:p>
        </p:txBody>
      </p:sp>
      <p:sp>
        <p:nvSpPr>
          <p:cNvPr id="62" name="Text 60"/>
          <p:cNvSpPr/>
          <p:nvPr/>
        </p:nvSpPr>
        <p:spPr>
          <a:xfrm>
            <a:off x="8577072" y="2715768"/>
            <a:ext cx="1746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424160" y="2715768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 / m³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7443216" y="3163824"/>
            <a:ext cx="3913632" cy="420624"/>
          </a:xfrm>
          <a:prstGeom prst="rect">
            <a:avLst/>
          </a:prstGeom>
          <a:solidFill>
            <a:srgbClr val="F7FAFC"/>
          </a:solidFill>
          <a:ln w="7620">
            <a:solidFill>
              <a:srgbClr val="D8E4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71232" y="3191256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</a:t>
            </a:r>
            <a:endParaRPr lang="en-US" sz="940" dirty="0"/>
          </a:p>
        </p:txBody>
      </p:sp>
      <p:sp>
        <p:nvSpPr>
          <p:cNvPr id="66" name="Text 64"/>
          <p:cNvSpPr/>
          <p:nvPr/>
        </p:nvSpPr>
        <p:spPr>
          <a:xfrm>
            <a:off x="8577072" y="3191256"/>
            <a:ext cx="1746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(R850 + R1,000) / 2,500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424160" y="319125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R0.74</a:t>
            </a:r>
            <a:endParaRPr lang="en-US" sz="940" dirty="0"/>
          </a:p>
        </p:txBody>
      </p:sp>
      <p:sp>
        <p:nvSpPr>
          <p:cNvPr id="68" name="Shape 66"/>
          <p:cNvSpPr/>
          <p:nvPr/>
        </p:nvSpPr>
        <p:spPr>
          <a:xfrm>
            <a:off x="7443216" y="3639312"/>
            <a:ext cx="391363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D8E4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71232" y="3666744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</a:t>
            </a:r>
            <a:endParaRPr lang="en-US" sz="940" dirty="0"/>
          </a:p>
        </p:txBody>
      </p:sp>
      <p:sp>
        <p:nvSpPr>
          <p:cNvPr id="70" name="Text 68"/>
          <p:cNvSpPr/>
          <p:nvPr/>
        </p:nvSpPr>
        <p:spPr>
          <a:xfrm>
            <a:off x="8577072" y="3666744"/>
            <a:ext cx="1746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设备费合计 / 2,500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424160" y="3666744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R5.33</a:t>
            </a:r>
            <a:endParaRPr lang="en-US" sz="940" dirty="0"/>
          </a:p>
        </p:txBody>
      </p:sp>
      <p:sp>
        <p:nvSpPr>
          <p:cNvPr id="72" name="Shape 70"/>
          <p:cNvSpPr/>
          <p:nvPr/>
        </p:nvSpPr>
        <p:spPr>
          <a:xfrm>
            <a:off x="7443216" y="4114800"/>
            <a:ext cx="3913632" cy="420624"/>
          </a:xfrm>
          <a:prstGeom prst="rect">
            <a:avLst/>
          </a:prstGeom>
          <a:solidFill>
            <a:srgbClr val="F7FAFC"/>
          </a:solidFill>
          <a:ln w="7620">
            <a:solidFill>
              <a:srgbClr val="D8E4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71232" y="4142232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材料（水）</a:t>
            </a:r>
            <a:endParaRPr lang="en-US" sz="940" dirty="0"/>
          </a:p>
        </p:txBody>
      </p:sp>
      <p:sp>
        <p:nvSpPr>
          <p:cNvPr id="74" name="Text 72"/>
          <p:cNvSpPr/>
          <p:nvPr/>
        </p:nvSpPr>
        <p:spPr>
          <a:xfrm>
            <a:off x="8577072" y="4142232"/>
            <a:ext cx="1746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R4,375 / 2,500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424160" y="4142232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R1.75</a:t>
            </a:r>
            <a:endParaRPr lang="en-US" sz="940" dirty="0"/>
          </a:p>
        </p:txBody>
      </p:sp>
      <p:sp>
        <p:nvSpPr>
          <p:cNvPr id="76" name="Shape 74"/>
          <p:cNvSpPr/>
          <p:nvPr/>
        </p:nvSpPr>
        <p:spPr>
          <a:xfrm>
            <a:off x="7443216" y="4590288"/>
            <a:ext cx="3913632" cy="420624"/>
          </a:xfrm>
          <a:prstGeom prst="rect">
            <a:avLst/>
          </a:prstGeom>
          <a:solidFill>
            <a:srgbClr val="E8FAFB"/>
          </a:solidFill>
          <a:ln w="7620">
            <a:solidFill>
              <a:srgbClr val="D8E4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71232" y="4617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纯直接费单价</a:t>
            </a:r>
            <a:endParaRPr lang="en-US" sz="940" dirty="0"/>
          </a:p>
        </p:txBody>
      </p:sp>
      <p:sp>
        <p:nvSpPr>
          <p:cNvPr id="78" name="Text 76"/>
          <p:cNvSpPr/>
          <p:nvPr/>
        </p:nvSpPr>
        <p:spPr>
          <a:xfrm>
            <a:off x="8577072" y="4617720"/>
            <a:ext cx="1746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 + 机械 + 材料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424160" y="4617720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R7.82</a:t>
            </a:r>
            <a:endParaRPr lang="en-US" sz="940" dirty="0"/>
          </a:p>
        </p:txBody>
      </p:sp>
      <p:sp>
        <p:nvSpPr>
          <p:cNvPr id="80" name="Text 78"/>
          <p:cNvSpPr/>
          <p:nvPr/>
        </p:nvSpPr>
        <p:spPr>
          <a:xfrm>
            <a:off x="7461504" y="5248656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D85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边界：新标必须按项目地点、日期、工时、雨季与运距重新核证。</a:t>
            </a:r>
            <a:endParaRPr lang="en-US" sz="980" dirty="0"/>
          </a:p>
        </p:txBody>
      </p:sp>
      <p:sp>
        <p:nvSpPr>
          <p:cNvPr id="81" name="Shape 79"/>
          <p:cNvSpPr/>
          <p:nvPr/>
        </p:nvSpPr>
        <p:spPr>
          <a:xfrm>
            <a:off x="658368" y="5641848"/>
            <a:ext cx="1335024" cy="310896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EAF2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1520" y="56509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来源页 / 条款 / 行</a:t>
            </a:r>
            <a:endParaRPr lang="en-US" sz="920" dirty="0"/>
          </a:p>
        </p:txBody>
      </p:sp>
      <p:sp>
        <p:nvSpPr>
          <p:cNvPr id="83" name="Shape 81"/>
          <p:cNvSpPr/>
          <p:nvPr/>
        </p:nvSpPr>
        <p:spPr>
          <a:xfrm>
            <a:off x="2130552" y="5641848"/>
            <a:ext cx="1499616" cy="310896"/>
          </a:xfrm>
          <a:prstGeom prst="roundRect">
            <a:avLst/>
          </a:prstGeom>
          <a:solidFill>
            <a:srgbClr val="E8FAFB"/>
          </a:solidFill>
          <a:ln w="8890">
            <a:solidFill>
              <a:srgbClr val="E8FAF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203704" y="565099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资源价：地点 + 日期</a:t>
            </a:r>
            <a:endParaRPr lang="en-US" sz="920" dirty="0"/>
          </a:p>
        </p:txBody>
      </p:sp>
      <p:sp>
        <p:nvSpPr>
          <p:cNvPr id="85" name="Shape 83"/>
          <p:cNvSpPr/>
          <p:nvPr/>
        </p:nvSpPr>
        <p:spPr>
          <a:xfrm>
            <a:off x="3776472" y="5641848"/>
            <a:ext cx="1188720" cy="310896"/>
          </a:xfrm>
          <a:prstGeom prst="roundRect">
            <a:avLst/>
          </a:prstGeom>
          <a:solidFill>
            <a:srgbClr val="E9EFF4"/>
          </a:solidFill>
          <a:ln w="8890">
            <a:solidFill>
              <a:srgbClr val="E9EFF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49624" y="565099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人工复核状态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3385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79222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45059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0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767328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42569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8406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74243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13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20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5781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735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7688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GATE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6751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证据门禁：让每个结论都能回到原文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018520" y="466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2087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海外工程投标及商业调研全流程AI智能 Agent 作业系统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01200" y="620877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向鑫 · 海外业务赛道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30352" y="117957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检索负责找到候选证据，门禁负责判断它能否进入正式成果。</a:t>
            </a:r>
            <a:endParaRPr lang="en-US" sz="1440" dirty="0"/>
          </a:p>
        </p:txBody>
      </p:sp>
      <p:sp>
        <p:nvSpPr>
          <p:cNvPr id="30" name="Shape 28"/>
          <p:cNvSpPr/>
          <p:nvPr/>
        </p:nvSpPr>
        <p:spPr>
          <a:xfrm>
            <a:off x="566928" y="1700784"/>
            <a:ext cx="3044952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1837944"/>
            <a:ext cx="310896" cy="310896"/>
          </a:xfrm>
          <a:prstGeom prst="ellipse">
            <a:avLst/>
          </a:prstGeom>
          <a:solidFill>
            <a:srgbClr val="176EE8"/>
          </a:solidFill>
          <a:ln w="12700">
            <a:solidFill>
              <a:srgbClr val="176EE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185623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1225296" y="1792224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993392" y="179222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谁发布 / 原始文件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66928" y="2487168"/>
            <a:ext cx="3044952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2624328"/>
            <a:ext cx="310896" cy="310896"/>
          </a:xfrm>
          <a:prstGeom prst="ellipse">
            <a:avLst/>
          </a:prstGeom>
          <a:solidFill>
            <a:srgbClr val="176EE8"/>
          </a:solidFill>
          <a:ln w="12700">
            <a:solidFill>
              <a:srgbClr val="176EE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264261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1225296" y="257860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993392" y="257860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何时有效 / 是否过期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66928" y="3273552"/>
            <a:ext cx="3044952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" y="3410712"/>
            <a:ext cx="310896" cy="310896"/>
          </a:xfrm>
          <a:prstGeom prst="ellipse">
            <a:avLst/>
          </a:prstGeom>
          <a:solidFill>
            <a:srgbClr val="176EE8"/>
          </a:solidFill>
          <a:ln w="12700">
            <a:solidFill>
              <a:srgbClr val="176EE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34290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1225296" y="3364992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993392" y="336499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项目、地区与适用条件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566928" y="4059936"/>
            <a:ext cx="3044952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" y="4197096"/>
            <a:ext cx="310896" cy="310896"/>
          </a:xfrm>
          <a:prstGeom prst="ellipse">
            <a:avLst/>
          </a:prstGeom>
          <a:solidFill>
            <a:srgbClr val="176EE8"/>
          </a:solidFill>
          <a:ln w="12700">
            <a:solidFill>
              <a:srgbClr val="176EE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" y="421538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30" dirty="0"/>
          </a:p>
        </p:txBody>
      </p:sp>
      <p:sp>
        <p:nvSpPr>
          <p:cNvPr id="48" name="Text 46"/>
          <p:cNvSpPr/>
          <p:nvPr/>
        </p:nvSpPr>
        <p:spPr>
          <a:xfrm>
            <a:off x="1225296" y="4151376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993392" y="415137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保留差异，不强行合并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566928" y="4846320"/>
            <a:ext cx="3044952" cy="594360"/>
          </a:xfrm>
          <a:prstGeom prst="roundRect">
            <a:avLst/>
          </a:prstGeom>
          <a:solidFill>
            <a:srgbClr val="E8FAFB"/>
          </a:solidFill>
          <a:ln w="10160">
            <a:solidFill>
              <a:srgbClr val="05B9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808" y="4983480"/>
            <a:ext cx="310896" cy="310896"/>
          </a:xfrm>
          <a:prstGeom prst="ellipse">
            <a:avLst/>
          </a:prstGeom>
          <a:solidFill>
            <a:srgbClr val="05B9C7"/>
          </a:solidFill>
          <a:ln w="12700">
            <a:solidFill>
              <a:srgbClr val="05B9C7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" y="500176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1225296" y="4937760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993392" y="493776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关键判断必须确认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3730752" y="3602736"/>
            <a:ext cx="640080" cy="0"/>
          </a:xfrm>
          <a:prstGeom prst="line">
            <a:avLst/>
          </a:prstGeom>
          <a:noFill/>
          <a:ln w="31750">
            <a:solidFill>
              <a:srgbClr val="176EE8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453128" y="1847088"/>
            <a:ext cx="3017520" cy="3593592"/>
          </a:xfrm>
          <a:prstGeom prst="roundRect">
            <a:avLst/>
          </a:prstGeom>
          <a:solidFill>
            <a:srgbClr val="08223F"/>
          </a:solidFill>
          <a:ln w="10160">
            <a:solidFill>
              <a:srgbClr val="08223F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791456" y="21854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6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5696712" y="22219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BF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定位候选段落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791456" y="2651760"/>
            <a:ext cx="2286000" cy="0"/>
          </a:xfrm>
          <a:prstGeom prst="line">
            <a:avLst/>
          </a:prstGeom>
          <a:noFill/>
          <a:ln w="12700">
            <a:solidFill>
              <a:srgbClr val="33516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91456" y="295351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证据门禁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4937760" y="3730752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C9DB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引用先于结论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C9DB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冲突显式呈现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C9DB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关键节点人工确认</a:t>
            </a:r>
            <a:endParaRPr lang="en-US" sz="1330" dirty="0"/>
          </a:p>
        </p:txBody>
      </p:sp>
      <p:sp>
        <p:nvSpPr>
          <p:cNvPr id="62" name="Shape 60"/>
          <p:cNvSpPr/>
          <p:nvPr/>
        </p:nvSpPr>
        <p:spPr>
          <a:xfrm>
            <a:off x="5285232" y="4882896"/>
            <a:ext cx="1344168" cy="347472"/>
          </a:xfrm>
          <a:prstGeom prst="roundRect">
            <a:avLst/>
          </a:prstGeom>
          <a:solidFill>
            <a:srgbClr val="7CE9EE"/>
          </a:solidFill>
          <a:ln w="8890">
            <a:solidFill>
              <a:srgbClr val="7CE9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58384" y="4892040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/ HOLD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7470648" y="3602736"/>
            <a:ext cx="640080" cy="0"/>
          </a:xfrm>
          <a:prstGeom prst="line">
            <a:avLst/>
          </a:prstGeom>
          <a:noFill/>
          <a:ln w="31750">
            <a:solidFill>
              <a:srgbClr val="05B9C7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8202168" y="1691640"/>
            <a:ext cx="3419856" cy="3904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5B9C7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485632" y="197510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系统内可点击回源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8476488" y="2651760"/>
            <a:ext cx="2240280" cy="338328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EAF2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49640" y="266090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源文件：Tender Data</a:t>
            </a:r>
            <a:endParaRPr lang="en-US" sz="940" dirty="0"/>
          </a:p>
        </p:txBody>
      </p:sp>
      <p:sp>
        <p:nvSpPr>
          <p:cNvPr id="69" name="Shape 67"/>
          <p:cNvSpPr/>
          <p:nvPr/>
        </p:nvSpPr>
        <p:spPr>
          <a:xfrm>
            <a:off x="8476488" y="3163824"/>
            <a:ext cx="2240280" cy="338328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EAF2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49640" y="3172968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页码：p.126</a:t>
            </a:r>
            <a:endParaRPr lang="en-US" sz="940" dirty="0"/>
          </a:p>
        </p:txBody>
      </p:sp>
      <p:sp>
        <p:nvSpPr>
          <p:cNvPr id="71" name="Shape 69"/>
          <p:cNvSpPr/>
          <p:nvPr/>
        </p:nvSpPr>
        <p:spPr>
          <a:xfrm>
            <a:off x="8476488" y="3675888"/>
            <a:ext cx="2240280" cy="338328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EAF2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549640" y="3685032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条款：COTO A5.1.3</a:t>
            </a:r>
            <a:endParaRPr lang="en-US" sz="940" dirty="0"/>
          </a:p>
        </p:txBody>
      </p:sp>
      <p:sp>
        <p:nvSpPr>
          <p:cNvPr id="73" name="Shape 71"/>
          <p:cNvSpPr/>
          <p:nvPr/>
        </p:nvSpPr>
        <p:spPr>
          <a:xfrm>
            <a:off x="8476488" y="4187952"/>
            <a:ext cx="2240280" cy="338328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EAF2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49640" y="4197096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时点：2026-08</a:t>
            </a:r>
            <a:endParaRPr lang="en-US" sz="940" dirty="0"/>
          </a:p>
        </p:txBody>
      </p:sp>
      <p:sp>
        <p:nvSpPr>
          <p:cNvPr id="75" name="Shape 73"/>
          <p:cNvSpPr/>
          <p:nvPr/>
        </p:nvSpPr>
        <p:spPr>
          <a:xfrm>
            <a:off x="8476488" y="4700016"/>
            <a:ext cx="2240280" cy="338328"/>
          </a:xfrm>
          <a:prstGeom prst="roundRect">
            <a:avLst/>
          </a:prstGeom>
          <a:solidFill>
            <a:srgbClr val="EAF8F2"/>
          </a:solidFill>
          <a:ln w="8890">
            <a:solidFill>
              <a:srgbClr val="EAF8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49640" y="470916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A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状态：人工复核</a:t>
            </a:r>
            <a:endParaRPr lang="en-US" sz="940" dirty="0"/>
          </a:p>
        </p:txBody>
      </p:sp>
      <p:sp>
        <p:nvSpPr>
          <p:cNvPr id="77" name="Text 75"/>
          <p:cNvSpPr/>
          <p:nvPr/>
        </p:nvSpPr>
        <p:spPr>
          <a:xfrm>
            <a:off x="8494776" y="5184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系统内点击 → 回到出处</a:t>
            </a:r>
            <a:endParaRPr lang="en-US" sz="1020" dirty="0"/>
          </a:p>
        </p:txBody>
      </p:sp>
      <p:sp>
        <p:nvSpPr>
          <p:cNvPr id="78" name="Text 76"/>
          <p:cNvSpPr/>
          <p:nvPr/>
        </p:nvSpPr>
        <p:spPr>
          <a:xfrm>
            <a:off x="8494776" y="54041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本页为静态示意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3385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79222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45059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0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767328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42569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8406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74243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13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20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5781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735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7688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OUTPUTS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6751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真实成果：主证据不是概念界面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018520" y="466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2087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海外工程投标及商业调研全流程AI智能 Agent 作业系统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01200" y="620877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向鑫 · 海外业务赛道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30352" y="1179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知识库与投标成果为主，商业调研图表为辅；EB 施工仿真明确标注为“模拟辅助”。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557784" y="1645920"/>
            <a:ext cx="5833872" cy="3264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pic>
        <p:nvPicPr>
          <p:cNvPr id="31" name="Image 0" descr="kb-workbench-reda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719072"/>
            <a:ext cx="5687568" cy="3118104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49808" y="4315968"/>
            <a:ext cx="5413248" cy="429768"/>
          </a:xfrm>
          <a:prstGeom prst="roundRect">
            <a:avLst/>
          </a:prstGeom>
          <a:solidFill>
            <a:srgbClr val="08223F">
              <a:alpha val="96000"/>
            </a:srgbClr>
          </a:solidFill>
          <a:ln w="12700">
            <a:solidFill>
              <a:srgbClr val="08223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32688" y="4398264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主证据｜知识库工作台 × 投标证据链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675120" y="1645920"/>
            <a:ext cx="2286000" cy="1591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pic>
        <p:nvPicPr>
          <p:cNvPr id="35" name="Image 1" descr="report-equ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1719072"/>
            <a:ext cx="2139696" cy="1444752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9262872" y="1645920"/>
            <a:ext cx="2359152" cy="1591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pic>
        <p:nvPicPr>
          <p:cNvPr id="37" name="Image 2" descr="report-stag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1719072"/>
            <a:ext cx="2212848" cy="1444752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6675120" y="3529584"/>
            <a:ext cx="2286000" cy="1856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pic>
        <p:nvPicPr>
          <p:cNvPr id="39" name="Image 3" descr="report-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3602736"/>
            <a:ext cx="2139696" cy="170992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9262872" y="3529584"/>
            <a:ext cx="2359152" cy="1856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pic>
        <p:nvPicPr>
          <p:cNvPr id="41" name="Image 4" descr="simulation-eb-cloe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3602736"/>
            <a:ext cx="2212848" cy="170992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6803136" y="2852928"/>
            <a:ext cx="585216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876288" y="286207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</a:t>
            </a:r>
            <a:endParaRPr lang="en-US" sz="880" dirty="0"/>
          </a:p>
        </p:txBody>
      </p:sp>
      <p:sp>
        <p:nvSpPr>
          <p:cNvPr id="44" name="Shape 37"/>
          <p:cNvSpPr/>
          <p:nvPr/>
        </p:nvSpPr>
        <p:spPr>
          <a:xfrm>
            <a:off x="9390888" y="2852928"/>
            <a:ext cx="585216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9464040" y="286207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880" dirty="0"/>
          </a:p>
        </p:txBody>
      </p:sp>
      <p:sp>
        <p:nvSpPr>
          <p:cNvPr id="46" name="Shape 39"/>
          <p:cNvSpPr/>
          <p:nvPr/>
        </p:nvSpPr>
        <p:spPr>
          <a:xfrm>
            <a:off x="6803136" y="4992624"/>
            <a:ext cx="585216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876288" y="500176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80" dirty="0"/>
          </a:p>
        </p:txBody>
      </p:sp>
      <p:sp>
        <p:nvSpPr>
          <p:cNvPr id="48" name="Shape 41"/>
          <p:cNvSpPr/>
          <p:nvPr/>
        </p:nvSpPr>
        <p:spPr>
          <a:xfrm>
            <a:off x="9390888" y="4992624"/>
            <a:ext cx="822960" cy="310896"/>
          </a:xfrm>
          <a:prstGeom prst="roundRect">
            <a:avLst/>
          </a:prstGeom>
          <a:solidFill>
            <a:srgbClr val="FDEDED"/>
          </a:solidFill>
          <a:ln w="8890">
            <a:solidFill>
              <a:srgbClr val="F3CACA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9464040" y="500176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85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模拟辅助</a:t>
            </a:r>
            <a:endParaRPr lang="en-US" sz="880" dirty="0"/>
          </a:p>
        </p:txBody>
      </p:sp>
      <p:sp>
        <p:nvSpPr>
          <p:cNvPr id="50" name="Shape 43"/>
          <p:cNvSpPr/>
          <p:nvPr/>
        </p:nvSpPr>
        <p:spPr>
          <a:xfrm>
            <a:off x="731520" y="5239512"/>
            <a:ext cx="1115568" cy="365760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EAF2F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04672" y="524865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原始文件</a:t>
            </a:r>
            <a:endParaRPr lang="en-US" sz="950" dirty="0"/>
          </a:p>
        </p:txBody>
      </p:sp>
      <p:sp>
        <p:nvSpPr>
          <p:cNvPr id="52" name="Shape 45"/>
          <p:cNvSpPr/>
          <p:nvPr/>
        </p:nvSpPr>
        <p:spPr>
          <a:xfrm>
            <a:off x="2066544" y="5239512"/>
            <a:ext cx="1115568" cy="365760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EAF2FF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2139696" y="524865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章节条款</a:t>
            </a:r>
            <a:endParaRPr lang="en-US" sz="950" dirty="0"/>
          </a:p>
        </p:txBody>
      </p:sp>
      <p:sp>
        <p:nvSpPr>
          <p:cNvPr id="54" name="Shape 47"/>
          <p:cNvSpPr/>
          <p:nvPr/>
        </p:nvSpPr>
        <p:spPr>
          <a:xfrm>
            <a:off x="3401568" y="5239512"/>
            <a:ext cx="1115568" cy="365760"/>
          </a:xfrm>
          <a:prstGeom prst="roundRect">
            <a:avLst/>
          </a:prstGeom>
          <a:solidFill>
            <a:srgbClr val="E8FAFB"/>
          </a:solidFill>
          <a:ln w="8890">
            <a:solidFill>
              <a:srgbClr val="E8FAFB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3474720" y="524865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BOQ 底稿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4736592" y="5239512"/>
            <a:ext cx="1115568" cy="365760"/>
          </a:xfrm>
          <a:prstGeom prst="roundRect">
            <a:avLst/>
          </a:prstGeom>
          <a:solidFill>
            <a:srgbClr val="E9EFF4"/>
          </a:solidFill>
          <a:ln w="8890">
            <a:solidFill>
              <a:srgbClr val="E9EFF4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4809744" y="524865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正式标稿</a:t>
            </a:r>
            <a:endParaRPr lang="en-US" sz="950" dirty="0"/>
          </a:p>
        </p:txBody>
      </p:sp>
      <p:sp>
        <p:nvSpPr>
          <p:cNvPr id="58" name="Text 51"/>
          <p:cNvSpPr/>
          <p:nvPr/>
        </p:nvSpPr>
        <p:spPr>
          <a:xfrm>
            <a:off x="749808" y="5769864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个人本地路径已从源图像像素中脱敏</a:t>
            </a:r>
            <a:endParaRPr lang="en-US" sz="930" dirty="0"/>
          </a:p>
        </p:txBody>
      </p:sp>
      <p:sp>
        <p:nvSpPr>
          <p:cNvPr id="59" name="Text 52"/>
          <p:cNvSpPr/>
          <p:nvPr/>
        </p:nvSpPr>
        <p:spPr>
          <a:xfrm>
            <a:off x="8257032" y="5742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D85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模型假设与最终专业结论仍须由项目团队复核。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3385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79222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45059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0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767328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42569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8406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74243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13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20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5781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735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7688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6751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价值不止在投标：成果沿项目周期继续复用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018520" y="466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2087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海外工程投标及商业调研全流程AI智能 Agent 作业系统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01200" y="620877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向鑫 · 海外业务赛道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30352" y="117957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不虚构效率百分比，只展示可见的工作链与成果复用关系。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585216" y="1847088"/>
            <a:ext cx="3310128" cy="3200400"/>
          </a:xfrm>
          <a:prstGeom prst="roundRect">
            <a:avLst/>
          </a:prstGeom>
          <a:solidFill>
            <a:srgbClr val="E8FAFB"/>
          </a:solidFill>
          <a:ln w="13970">
            <a:solidFill>
              <a:srgbClr val="05B9C7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211226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039112" y="2157984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spc="15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22960" y="277977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调研支撑决策</a:t>
            </a:r>
            <a:endParaRPr lang="en-US" sz="2050" dirty="0"/>
          </a:p>
        </p:txBody>
      </p:sp>
      <p:sp>
        <p:nvSpPr>
          <p:cNvPr id="34" name="Text 32"/>
          <p:cNvSpPr/>
          <p:nvPr/>
        </p:nvSpPr>
        <p:spPr>
          <a:xfrm>
            <a:off x="822960" y="3529584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机会、市场、业主、伙伴、风险</a:t>
            </a:r>
            <a:endParaRPr lang="en-US" sz="1230" dirty="0"/>
          </a:p>
        </p:txBody>
      </p:sp>
      <p:sp>
        <p:nvSpPr>
          <p:cNvPr id="35" name="Shape 33"/>
          <p:cNvSpPr/>
          <p:nvPr/>
        </p:nvSpPr>
        <p:spPr>
          <a:xfrm>
            <a:off x="832104" y="4370832"/>
            <a:ext cx="2697480" cy="0"/>
          </a:xfrm>
          <a:prstGeom prst="line">
            <a:avLst/>
          </a:prstGeom>
          <a:noFill/>
          <a:ln w="38100">
            <a:solidFill>
              <a:srgbClr val="05B9C7">
                <a:alpha val="9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5344" y="3429000"/>
            <a:ext cx="438912" cy="0"/>
          </a:xfrm>
          <a:prstGeom prst="line">
            <a:avLst/>
          </a:prstGeom>
          <a:noFill/>
          <a:ln w="33020">
            <a:solidFill>
              <a:srgbClr val="05B9C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334256" y="1847088"/>
            <a:ext cx="3310128" cy="3200400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176EE8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0" y="211226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788152" y="2157984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spc="150" kern="0" dirty="0">
                <a:solidFill>
                  <a:srgbClr val="176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TENDER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4572000" y="277977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投标形成标稿</a:t>
            </a:r>
            <a:endParaRPr lang="en-US" sz="2050" dirty="0"/>
          </a:p>
        </p:txBody>
      </p:sp>
      <p:sp>
        <p:nvSpPr>
          <p:cNvPr id="41" name="Text 39"/>
          <p:cNvSpPr/>
          <p:nvPr/>
        </p:nvSpPr>
        <p:spPr>
          <a:xfrm>
            <a:off x="4572000" y="3529584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条款、BOQ、工法、施工策划</a:t>
            </a:r>
            <a:endParaRPr lang="en-US" sz="1230" dirty="0"/>
          </a:p>
        </p:txBody>
      </p:sp>
      <p:sp>
        <p:nvSpPr>
          <p:cNvPr id="42" name="Shape 40"/>
          <p:cNvSpPr/>
          <p:nvPr/>
        </p:nvSpPr>
        <p:spPr>
          <a:xfrm>
            <a:off x="4581144" y="4370832"/>
            <a:ext cx="2697480" cy="0"/>
          </a:xfrm>
          <a:prstGeom prst="line">
            <a:avLst/>
          </a:prstGeom>
          <a:noFill/>
          <a:ln w="38100">
            <a:solidFill>
              <a:srgbClr val="176EE8">
                <a:alpha val="9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44384" y="3429000"/>
            <a:ext cx="438912" cy="0"/>
          </a:xfrm>
          <a:prstGeom prst="line">
            <a:avLst/>
          </a:prstGeom>
          <a:noFill/>
          <a:ln w="33020">
            <a:solidFill>
              <a:srgbClr val="05B9C7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083296" y="1847088"/>
            <a:ext cx="3310128" cy="3200400"/>
          </a:xfrm>
          <a:prstGeom prst="roundRect">
            <a:avLst/>
          </a:prstGeom>
          <a:solidFill>
            <a:srgbClr val="E8EEF3"/>
          </a:solidFill>
          <a:ln w="13970">
            <a:solidFill>
              <a:srgbClr val="08223F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1040" y="211226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537192" y="2157984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spc="150" kern="0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8321040" y="277977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中标后复用</a:t>
            </a:r>
            <a:endParaRPr lang="en-US" sz="2050" dirty="0"/>
          </a:p>
        </p:txBody>
      </p:sp>
      <p:sp>
        <p:nvSpPr>
          <p:cNvPr id="48" name="Text 46"/>
          <p:cNvSpPr/>
          <p:nvPr/>
        </p:nvSpPr>
        <p:spPr>
          <a:xfrm>
            <a:off x="8321040" y="3529584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知识库、参数、计划与交底</a:t>
            </a:r>
            <a:endParaRPr lang="en-US" sz="1230" dirty="0"/>
          </a:p>
        </p:txBody>
      </p:sp>
      <p:sp>
        <p:nvSpPr>
          <p:cNvPr id="49" name="Shape 47"/>
          <p:cNvSpPr/>
          <p:nvPr/>
        </p:nvSpPr>
        <p:spPr>
          <a:xfrm>
            <a:off x="8330184" y="4370832"/>
            <a:ext cx="2697480" cy="0"/>
          </a:xfrm>
          <a:prstGeom prst="line">
            <a:avLst/>
          </a:prstGeom>
          <a:noFill/>
          <a:ln w="38100">
            <a:solidFill>
              <a:srgbClr val="08223F">
                <a:alpha val="9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7280" y="5440680"/>
            <a:ext cx="9994392" cy="530352"/>
          </a:xfrm>
          <a:prstGeom prst="roundRect">
            <a:avLst/>
          </a:prstGeom>
          <a:solidFill>
            <a:srgbClr val="08223F"/>
          </a:solidFill>
          <a:ln w="12700">
            <a:solidFill>
              <a:srgbClr val="08223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0" y="5577840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同一证据链，跨阶段复用：减少重新找资料、重新解释口径、重新搭建成果结构。</a:t>
            </a:r>
            <a:endParaRPr lang="en-US" sz="1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02920"/>
            <a:ext cx="0" cy="585216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72768" y="502920"/>
            <a:ext cx="0" cy="585216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51760" y="502920"/>
            <a:ext cx="0" cy="585216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30752" y="502920"/>
            <a:ext cx="0" cy="585216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9744" y="502920"/>
            <a:ext cx="0" cy="585216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88736" y="502920"/>
            <a:ext cx="0" cy="585216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67728" y="502920"/>
            <a:ext cx="0" cy="585216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502920"/>
            <a:ext cx="0" cy="585216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25712" y="502920"/>
            <a:ext cx="0" cy="585216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04704" y="502920"/>
            <a:ext cx="0" cy="585216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83696" y="502920"/>
            <a:ext cx="0" cy="585216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" y="566928"/>
            <a:ext cx="11173968" cy="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1463040"/>
            <a:ext cx="11173968" cy="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2359152"/>
            <a:ext cx="11173968" cy="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3255264"/>
            <a:ext cx="11173968" cy="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" y="4151376"/>
            <a:ext cx="11173968" cy="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" y="5047488"/>
            <a:ext cx="11173968" cy="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" y="5943600"/>
            <a:ext cx="11173968" cy="0"/>
          </a:xfrm>
          <a:prstGeom prst="line">
            <a:avLst/>
          </a:prstGeom>
          <a:noFill/>
          <a:ln w="6985">
            <a:solidFill>
              <a:srgbClr val="173A58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943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10" kern="0" dirty="0">
                <a:solidFill>
                  <a:srgbClr val="72E4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CONVERGENCE ENGINE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70432" y="1572768"/>
            <a:ext cx="98572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把复杂输入组织成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可信、可复核、可递交的工程成果</a:t>
            </a:r>
            <a:endParaRPr lang="en-US" sz="3100" dirty="0"/>
          </a:p>
        </p:txBody>
      </p:sp>
      <p:sp>
        <p:nvSpPr>
          <p:cNvPr id="22" name="Shape 20"/>
          <p:cNvSpPr/>
          <p:nvPr/>
        </p:nvSpPr>
        <p:spPr>
          <a:xfrm>
            <a:off x="1856232" y="4032504"/>
            <a:ext cx="2971800" cy="0"/>
          </a:xfrm>
          <a:prstGeom prst="line">
            <a:avLst/>
          </a:prstGeom>
          <a:noFill/>
          <a:ln w="52070">
            <a:solidFill>
              <a:srgbClr val="05B9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6232" y="4782312"/>
            <a:ext cx="2971800" cy="0"/>
          </a:xfrm>
          <a:prstGeom prst="line">
            <a:avLst/>
          </a:prstGeom>
          <a:noFill/>
          <a:ln w="52070">
            <a:solidFill>
              <a:srgbClr val="176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4032504"/>
            <a:ext cx="1353312" cy="365760"/>
          </a:xfrm>
          <a:prstGeom prst="line">
            <a:avLst/>
          </a:prstGeom>
          <a:noFill/>
          <a:ln w="52070">
            <a:solidFill>
              <a:srgbClr val="05B9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4782312"/>
            <a:ext cx="1353312" cy="-365760"/>
          </a:xfrm>
          <a:prstGeom prst="line">
            <a:avLst/>
          </a:prstGeom>
          <a:noFill/>
          <a:ln w="52070">
            <a:solidFill>
              <a:srgbClr val="176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8776" y="3986784"/>
            <a:ext cx="1243584" cy="841248"/>
          </a:xfrm>
          <a:prstGeom prst="roundRect">
            <a:avLst/>
          </a:prstGeom>
          <a:solidFill>
            <a:srgbClr val="123B5B"/>
          </a:solidFill>
          <a:ln w="10160">
            <a:solidFill>
              <a:srgbClr val="7AE6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42153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证据门禁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7452360" y="4407408"/>
            <a:ext cx="960120" cy="0"/>
          </a:xfrm>
          <a:prstGeom prst="line">
            <a:avLst/>
          </a:prstGeom>
          <a:noFill/>
          <a:ln w="41910">
            <a:solidFill>
              <a:srgbClr val="176EE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503920" y="3959352"/>
            <a:ext cx="217627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50808" y="41605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Official Outputs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93008" y="58338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B6CB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请评委指导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509760" y="62087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0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向鑫 · 海外业务赛道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3385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79222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45059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0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767328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42569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8406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74243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13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20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5781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735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7688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 · DESIGN NOTE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6751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设计说明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018520" y="466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2087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设计说明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01200" y="620877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向鑫 · 海外业务赛道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66928" y="1371600"/>
            <a:ext cx="6967728" cy="4773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EC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9536" y="17007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5B9C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创意理念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59536" y="2084832"/>
            <a:ext cx="63642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以“汇流工程”为核心隐喻：商业调研与工程投标是两条独立长程作业轨，它们持续推进、交叉校验，最终在证据门禁处汇聚为正式成果。蓝色代表投标作业，青色代表商业调研，深色节点代表门禁，明亮终点代表 Official Outputs。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859536" y="3182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6E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作品亮点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59536" y="3566160"/>
            <a:ext cx="63642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系统覆盖投标、实施、投资 3 个业务域，以 34 个领域 Skills 组织专业作业；投标采用 6 步流程，BOQ 采用 5 步推导。BM25 用于定位候选段落，系统内可点击回源至源文件、页码与条款；成果进入统一成果树，支持人工复核后递交。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859536" y="4663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形成过程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59536" y="5047488"/>
            <a:ext cx="6364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从真实海外业务问题出发，先梳理商业调研与投标作业链，再把规范条款、BOQ 底稿、调研图表、施工策划等成果映射到统一证据规则；经过真实成果验证与人工复核边界校准，形成当前方案。</a:t>
            </a:r>
            <a:endParaRPr lang="en-US" sz="1260" dirty="0"/>
          </a:p>
        </p:txBody>
      </p:sp>
      <p:sp>
        <p:nvSpPr>
          <p:cNvPr id="36" name="Shape 34"/>
          <p:cNvSpPr/>
          <p:nvPr/>
        </p:nvSpPr>
        <p:spPr>
          <a:xfrm>
            <a:off x="7882128" y="1371600"/>
            <a:ext cx="3739896" cy="4773168"/>
          </a:xfrm>
          <a:prstGeom prst="roundRect">
            <a:avLst/>
          </a:prstGeom>
          <a:solidFill>
            <a:srgbClr val="08223F"/>
          </a:solidFill>
          <a:ln w="10160">
            <a:solidFill>
              <a:srgbClr val="08223F"/>
            </a:solidFill>
            <a:prstDash val="solid"/>
          </a:ln>
          <a:effectLst>
            <a:outerShdw sx="100000" sy="100000" kx="0" ky="0" algn="bl" rotWithShape="0" blurRad="63500" dist="19050" dir="8100000">
              <a:srgbClr val="08223F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02168" y="171907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76E5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参赛人角色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02168" y="2221992"/>
            <a:ext cx="2231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向鑫</a:t>
            </a:r>
            <a:endParaRPr lang="en-US" sz="2900" dirty="0"/>
          </a:p>
        </p:txBody>
      </p:sp>
      <p:sp>
        <p:nvSpPr>
          <p:cNvPr id="39" name="Shape 37"/>
          <p:cNvSpPr/>
          <p:nvPr/>
        </p:nvSpPr>
        <p:spPr>
          <a:xfrm>
            <a:off x="8220456" y="3127248"/>
            <a:ext cx="246888" cy="246888"/>
          </a:xfrm>
          <a:prstGeom prst="ellipse">
            <a:avLst/>
          </a:prstGeom>
          <a:solidFill>
            <a:srgbClr val="05B9C7"/>
          </a:solidFill>
          <a:ln w="12700">
            <a:solidFill>
              <a:srgbClr val="05B9C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22792" y="30632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8220456" y="3694176"/>
            <a:ext cx="246888" cy="246888"/>
          </a:xfrm>
          <a:prstGeom prst="ellipse">
            <a:avLst/>
          </a:prstGeom>
          <a:solidFill>
            <a:srgbClr val="05B9C7"/>
          </a:solidFill>
          <a:ln w="12700">
            <a:solidFill>
              <a:srgbClr val="05B9C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22792" y="363016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工作流设计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8220456" y="4261104"/>
            <a:ext cx="246888" cy="246888"/>
          </a:xfrm>
          <a:prstGeom prst="ellipse">
            <a:avLst/>
          </a:prstGeom>
          <a:solidFill>
            <a:srgbClr val="176EE8"/>
          </a:solidFill>
          <a:ln w="12700">
            <a:solidFill>
              <a:srgbClr val="176EE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22792" y="419709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领域技能与知识库建设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8220456" y="4828032"/>
            <a:ext cx="246888" cy="246888"/>
          </a:xfrm>
          <a:prstGeom prst="ellipse">
            <a:avLst/>
          </a:prstGeom>
          <a:solidFill>
            <a:srgbClr val="176EE8"/>
          </a:solidFill>
          <a:ln w="12700">
            <a:solidFill>
              <a:srgbClr val="176EE8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22792" y="476402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真实项目验证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8211312" y="5632704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92AC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设计说明正文少于 1000 个汉字。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3385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79222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45059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0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767328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425696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84064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742432"/>
            <a:ext cx="11183112" cy="0"/>
          </a:xfrm>
          <a:prstGeom prst="line">
            <a:avLst/>
          </a:prstGeom>
          <a:noFill/>
          <a:ln w="5715">
            <a:solidFill>
              <a:srgbClr val="E9F0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13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920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57816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7352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76888" y="1133856"/>
            <a:ext cx="0" cy="5102352"/>
          </a:xfrm>
          <a:prstGeom prst="line">
            <a:avLst/>
          </a:prstGeom>
          <a:noFill/>
          <a:ln w="5080">
            <a:solidFill>
              <a:srgbClr val="ED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5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B · EVIDENCE BOUNDARY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6751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223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证据边界与人工复核边界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018520" y="466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2087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 · 证据与责任边界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01200" y="620877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89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向鑫 · 海外业务赛道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30352" y="1170432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627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产出的是可追溯、可复核的专业草稿；关键判断与最终数字仍由具备职责的专业人员确认。</a:t>
            </a:r>
            <a:endParaRPr lang="en-US" sz="1410" dirty="0"/>
          </a:p>
        </p:txBody>
      </p:sp>
      <p:sp>
        <p:nvSpPr>
          <p:cNvPr id="30" name="Shape 28"/>
          <p:cNvSpPr/>
          <p:nvPr/>
        </p:nvSpPr>
        <p:spPr>
          <a:xfrm>
            <a:off x="566928" y="1700784"/>
            <a:ext cx="11045952" cy="585216"/>
          </a:xfrm>
          <a:prstGeom prst="rect">
            <a:avLst/>
          </a:prstGeom>
          <a:solidFill>
            <a:srgbClr val="08223F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176479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内容类型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2331720" y="176479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系统可完成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5385816" y="1764792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必须人工复核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8229600" y="1764792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进入正式成果的条件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566928" y="2359152"/>
            <a:ext cx="1104595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" y="2423160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商业事实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2331720" y="242316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检索、聚合、形成引用卡片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5385816" y="2423160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时点、主体、冲突来源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8229600" y="2423160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来源与日期可定位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66928" y="3017520"/>
            <a:ext cx="11045952" cy="585216"/>
          </a:xfrm>
          <a:prstGeom prst="rect">
            <a:avLst/>
          </a:prstGeom>
          <a:solidFill>
            <a:srgbClr val="F0F5F8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" y="308152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条款范围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2331720" y="30815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按章 / 节 / Clause 索引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5385816" y="3081528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适用性、合同解释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8229600" y="3081528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原文回指 + 责任人确认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566928" y="3675888"/>
            <a:ext cx="1104595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" y="373989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BOQ 定价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2331720" y="373989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形成五步推导与底稿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5385816" y="3739896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工程量、工效、资源价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8229600" y="3739896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项目化核价 + 专业复核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566928" y="4334256"/>
            <a:ext cx="11045952" cy="585216"/>
          </a:xfrm>
          <a:prstGeom prst="rect">
            <a:avLst/>
          </a:prstGeom>
          <a:solidFill>
            <a:srgbClr val="F0F5F8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" y="4398264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施工策划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2331720" y="439826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组织参数与阶段草案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5385816" y="4398264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安全、工况、可实施性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8229600" y="4398264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项目团队审查批准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566928" y="4992624"/>
            <a:ext cx="1104595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" y="505663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 仿真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2331720" y="50566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辅助表达工序与场景</a:t>
            </a:r>
            <a:endParaRPr lang="en-US" sz="1020" dirty="0"/>
          </a:p>
        </p:txBody>
      </p:sp>
      <p:sp>
        <p:nvSpPr>
          <p:cNvPr id="58" name="Text 56"/>
          <p:cNvSpPr/>
          <p:nvPr/>
        </p:nvSpPr>
        <p:spPr>
          <a:xfrm>
            <a:off x="5385816" y="5056632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模型假设、参数、最终结论</a:t>
            </a:r>
            <a:endParaRPr lang="en-US" sz="1020" dirty="0"/>
          </a:p>
        </p:txBody>
      </p:sp>
      <p:sp>
        <p:nvSpPr>
          <p:cNvPr id="59" name="Text 57"/>
          <p:cNvSpPr/>
          <p:nvPr/>
        </p:nvSpPr>
        <p:spPr>
          <a:xfrm>
            <a:off x="8229600" y="5056632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22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明确“模拟辅助”标识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585216" y="5696712"/>
            <a:ext cx="11009376" cy="420624"/>
          </a:xfrm>
          <a:prstGeom prst="roundRect">
            <a:avLst/>
          </a:prstGeom>
          <a:solidFill>
            <a:srgbClr val="E8FAFB"/>
          </a:solidFill>
          <a:ln w="10160">
            <a:solidFill>
              <a:srgbClr val="05B9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0392" y="5760720"/>
            <a:ext cx="10488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82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统一原则：证据不足则暂缓放行；来源冲突则显式保留；最终递交必须经过人工复核。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中国建筑第二工程局有限公司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海外工程投标及商业调研全流程AI智能 Agent 作业系统</dc:title>
  <dc:subject>中国建筑第二届青年设计师创新大赛·海外业务赛道决赛答辩</dc:subject>
  <dc:creator>向鑫</dc:creator>
  <cp:lastModifiedBy>向鑫</cp:lastModifiedBy>
  <cp:revision>1</cp:revision>
  <dcterms:created xsi:type="dcterms:W3CDTF">2026-08-27T19:30:39Z</dcterms:created>
  <dcterms:modified xsi:type="dcterms:W3CDTF">2026-08-27T19:30:39Z</dcterms:modified>
</cp:coreProperties>
</file>